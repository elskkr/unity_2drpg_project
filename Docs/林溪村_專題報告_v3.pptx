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8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6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開場白：這是我獨立開發的 2D JRPG 探索 Demo，叫做《林溪村》。</a:t>
            </a:r>
          </a:p>
          <a:p>
            <a:r>
              <a:t>今天的報告分兩部分：前面三分之一講遊戲內容本身，後面三分之二講背後五個核心系統的技術設計。</a:t>
            </a:r>
          </a:p>
          <a:p>
            <a:r>
              <a:t>重點不是炫技，而是每個決定背後「為什麼選這個做法、又放棄了什麼」。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一句話定位：這是一個沒有戰鬥的探索型 JRPG 垂直切片。</a:t>
            </a:r>
          </a:p>
          <a:p>
            <a:r>
              <a:t>「垂直切片」的意思是：不是做一大片淺的內容，而是把一小段流程做到完整可玩——有開始畫面、有存檔、有任務、有結局提示。</a:t>
            </a:r>
          </a:p>
          <a:p>
            <a:r>
              <a:t>沒有戰鬥是刻意的取捨。因為只有一個人開發，我選擇把資源集中在對話與任務系統，這也是為什麼後面技術章節有一大半在講這塊。</a:t>
            </a:r>
          </a:p>
          <a:p>
            <a:r>
              <a:t>右邊這張全圖可以先讓大家有空間感——等一下第 2 章講地圖邊界時會回到這張圖。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一句話定位：這是一個沒有戰鬥的探索型 JRPG 垂直切片。</a:t>
            </a:r>
          </a:p>
          <a:p>
            <a:r>
              <a:t>「垂直切片」的意思是：不是做一大片淺的內容，而是把一小段流程做到完整可玩——有開始畫面、有存檔、有任務、有結局提示。</a:t>
            </a:r>
          </a:p>
          <a:p>
            <a:r>
              <a:t>沒有戰鬥是刻意的取捨。因為只有一個人開發，我選擇把資源集中在對話與任務系統，這也是為什麼後面技術章節有一大半在講這塊。</a:t>
            </a:r>
          </a:p>
          <a:p>
            <a:r>
              <a:t>右邊這張全圖可以先讓大家有空間感——等一下第 2 章講地圖邊界時會回到這張圖。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三個 NPC 不只是三個角色，在設計上各自對應一種任務結構——這是刻意安排的，因為 Demo 要證明系統撐得住不同形狀的劇情。</a:t>
            </a:r>
          </a:p>
          <a:p>
            <a:r>
              <a:t>愛拉是最單純的「發任務、交任務」；亞爾是有選擇分歧、會產生兩種結局的支線；賽勒是需要前後銜接的兩階段任務鏈。</a:t>
            </a:r>
          </a:p>
          <a:p>
            <a:r>
              <a:t>如果三個 NPC 都是同一種結構，那系統其實只被驗證了一次。</a:t>
            </a:r>
          </a:p>
          <a:p>
            <a:r>
              <a:t>每張圖就是他們在遊戲裡實際待的位置：愛拉在自家農田旁、亞爾坐在村口、賽勒守在鍊藥桌前。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主線是一條很短的線，但每一步都有它要驗證的系統功能。</a:t>
            </a:r>
          </a:p>
          <a:p>
            <a:r>
              <a:t>特別講第四步的比例謎題：配方寫的是 1、1.5、2.5，但作物不能切一半，所以玩家要自己想到「全部乘二」，變成 2:3:5。</a:t>
            </a:r>
          </a:p>
          <a:p>
            <a:r>
              <a:t>我刻意不在任務欄寫「採集甜菜 2 個」，因為那樣謎題就不存在了。對話裡有給公平提示：「作物沒辦法切半，該採幾份你自己算算」。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這條支線是整個 Demo 唯一有分歧的地方，也是最能展示對話系統彈性的案例。</a:t>
            </a:r>
          </a:p>
          <a:p>
            <a:r>
              <a:t>設計上最重要的一點：兩種選擇都必須是合理的，不能有一個是明顯的「錯誤選項」。留著劍你得到一件裝備，還劍你得到未來的盟友。</a:t>
            </a:r>
          </a:p>
          <a:p>
            <a:r>
              <a:t>技術上這造成一個連鎖影響——因為留著劍的玩家任務永遠不會完成，所以我判斷「試玩內容結束」的條件不能只看任務完成，必須改成看世界事件旗標。這是內容設計反過來逼著改架構的例子。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先講問題本身，因為它非常直覺：換場景，東西不見了。</a:t>
            </a:r>
          </a:p>
          <a:p>
            <a:r>
              <a:t>Unity 有內建的解法叫 DontDestroyOnLoad，就是幫物件貼一張「別殺我」的標籤。我一開始也是這樣做的。</a:t>
            </a:r>
          </a:p>
          <a:p>
            <a:r>
              <a:t>重點在右邊這張表：DontDestroyOnLoad 不是不能用，而是它把正確性押在「人要記得貼標籤」上。而漏貼的後果是某個功能安靜地失效，不會報錯，非常難查。</a:t>
            </a:r>
          </a:p>
          <a:p>
            <a:r>
              <a:t>這是整份報告第一次出現的主題：能動 不等於 好的設計。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解法是兩層結構：下層 Persistent 放所有要活下來的東西，上層放會換的地圖，用加法式載入疊上去。</a:t>
            </a:r>
          </a:p>
          <a:p>
            <a:r>
              <a:t>這裡有個觀念要講清楚：Unity 沒有「把場景設成永久」的開關。我做的是讓所有卸載指令都只指向一個存放關卡名稱的變數，而那個變數永遠不會是 Persistent。</a:t>
            </a:r>
          </a:p>
          <a:p>
            <a:r>
              <a:t>換句話說，我把「不要卸載它」從一條需要遵守的規則，變成程式結構上不可能違反的事實。這是兩者最大的差別。</a:t>
            </a:r>
          </a:p>
          <a:p>
            <a:r>
              <a:t>右下三個坑如果時間不夠可以只講第一個——透明的黑幕吃掉所有滑鼠點擊，這個最有畫面感。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這一頁講兩件事：靜態的圖層分工，跟動態的前後排序。</a:t>
            </a:r>
          </a:p>
          <a:p>
            <a:r>
              <a:t>圖層是大分類——地面永遠在最底，前景遮蔽永遠在最上。但同一層裡面誰前誰後不能寫死，因為玩家會走來走去。</a:t>
            </a:r>
          </a:p>
          <a:p>
            <a:r>
              <a:t>解法就是右邊那行公式：用 Y 座標算排序序號，越低越前面。</a:t>
            </a:r>
          </a:p>
          <a:p>
            <a:r>
              <a:t>左下那組對比就是它實際的效果：同一棵樹，玩家 Y 座標比樹低的時候完整顯示在樹前面，走到樹上方就被樹幹遮住。這一行算式解決了看起來很複雜的問題。</a:t>
            </a:r>
          </a:p>
          <a:p>
            <a:r>
              <a:t>右下那個坑值得提：這段計算原本只在遊戲跑起來時才生效，結果我在編輯器裡擺場景，看到的畫面跟實際玩起來不一樣，等於沒辦法用眼睛確認擺得對不對。工具的正確性也是產品的一部分。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你當時給我的要求是「不想要單純加空氣牆」。這句話其實點出了問題本質：</a:t>
            </a:r>
          </a:p>
          <a:p>
            <a:r>
              <a:t>玩家討厭的不是走不過去，而是「看得到開闊地卻走不過去」的違和感。</a:t>
            </a:r>
          </a:p>
          <a:p>
            <a:r>
              <a:t>所以做法反過來——先用密林把視線擋住，讓玩家根本不會想往那走，碰撞牆藏在後面。左邊那張圖就是實際效果：你看到的是一整片森林，不是一道牆。</a:t>
            </a:r>
          </a:p>
          <a:p>
            <a:r>
              <a:t>但這一頁我最想講的是右邊：動手之前我先量了一次地形。</a:t>
            </a:r>
          </a:p>
          <a:p>
            <a:r>
              <a:t>結果發現河流從頭到尾沒有橋，本來就過不去——所以整個東面根本不用做。需要圍的長度從 484 格降到 271 格，工作量少了快一半。</a:t>
            </a:r>
          </a:p>
          <a:p>
            <a:r>
              <a:t>教訓很簡單：先量再做，量出來的事實可能直接讓一半的工作消失。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這一頁是整份報告我最想講的技術段落。</a:t>
            </a:r>
          </a:p>
          <a:p>
            <a:r>
              <a:t>問題是：我做完邊界之後，怎麼知道它真的有效？</a:t>
            </a:r>
          </a:p>
          <a:p>
            <a:r>
              <a:t>直覺做法是沿著牆走一圈看有沒有破洞。但那只能證明牆沒破，證明不了玩家繞不過去——玩家可能從某個我完全沒想到的角度鑽出去。</a:t>
            </a:r>
          </a:p>
          <a:p>
            <a:r>
              <a:t>所以我改用洪水填充演算法：把地圖切成格子做碰撞偵測，然後從村子中央往四面擴散，看最後能到哪裡。這等於用程式模擬一個會走遍所有可能路徑的玩家。</a:t>
            </a:r>
          </a:p>
          <a:p>
            <a:r>
              <a:t>結果是 x 從 −59 到 40。這個數字最有價值的地方在東邊：地形其實一直鋪到 x=71，但玩家走不到，證明河流真的封住了。</a:t>
            </a:r>
          </a:p>
          <a:p>
            <a:r>
              <a:t>重點：驗證方法要能找出我沒想到的破口，而不只是檢查我想到的地方。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這是整個專案最核心的系統，也是花最多時間的。</a:t>
            </a:r>
          </a:p>
          <a:p>
            <a:r>
              <a:t>左邊列的是一個 RPG NPC 必須具備的行為。看起來不多，但如果每個 NPC 都寫一支專屬腳本，三十個 NPC 就是三十支幾乎一樣的程式，而且改一句台詞要重新編譯。</a:t>
            </a:r>
          </a:p>
          <a:p>
            <a:r>
              <a:t>所以做成資料驅動：程式只負責判斷「現在該說哪段話」，內容全部放在資料檔裡。</a:t>
            </a:r>
          </a:p>
          <a:p>
            <a:r>
              <a:t>右邊是資料的三層結構。最重要的是中間那層 stages 陣列——它讓一個 NPC 可以有多階段任務鏈。</a:t>
            </a:r>
          </a:p>
          <a:p>
            <a:r>
              <a:t>最後那句話是這一章的重點：加一個 NPC 不用寫任何程式，在編輯器裡填表格就好。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程式端的邏輯其實只有一件事：判斷現在該播哪一段對話。</a:t>
            </a:r>
          </a:p>
          <a:p>
            <a:r>
              <a:t>分兩步：先找出玩家目前走到哪個階段，再判斷那個階段是四種狀態的哪一種。</a:t>
            </a:r>
          </a:p>
          <a:p>
            <a:r>
              <a:t>左邊這張表就是全部了。四種狀態、四段對話，各自可以自由填寫。</a:t>
            </a:r>
          </a:p>
          <a:p>
            <a:r>
              <a:t>下面的四種解鎖條件是逐步加上去的——每次遇到「這個劇本寫不出來」就補一種，湊到四種之後就夠用了。</a:t>
            </a:r>
          </a:p>
          <a:p>
            <a:r>
              <a:t>右上那個設計值得特別講：我把「能發任務」和「能收東西」拆成兩個獨立開關。這樣同一條任務可以 A 發、B 收，跑腿類的劇情才寫得出來。</a:t>
            </a:r>
          </a:p>
          <a:p>
            <a:r>
              <a:t>右下那張圖就是「可接取」狀態的實機畫面——NPC 頭上那個黃色驚嘆號。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情報系統的起點是一個很具體的問題：玩家憑什麼知道亞爾弄丟了劍？</a:t>
            </a:r>
          </a:p>
          <a:p>
            <a:r>
              <a:t>最早的版本是一走近就出現那個選項，但玩家還沒跟任何人聊過，角色像會讀心術。</a:t>
            </a:r>
          </a:p>
          <a:p>
            <a:r>
              <a:t>所以我做了一個「玩家知道什麼」的系統。架構是刻意抄任務系統的，三個檔案一一對應，因為那套已經驗證可行、跟存檔也接好了，照同一個模子做速度快很多。</a:t>
            </a:r>
          </a:p>
          <a:p>
            <a:r>
              <a:t>左邊那個設計抉擇是這一章的核心：鎖住的選項要藏起來，還是看得到選不到？</a:t>
            </a:r>
          </a:p>
          <a:p>
            <a:r>
              <a:t>第一版是藏起來，結果玩家永遠不知道自己錯過了一整條支線。改成顯示問號之後，「錯過」就變成「好奇」。</a:t>
            </a:r>
          </a:p>
          <a:p>
            <a:r>
              <a:t>右邊這張實機畫面同時看得到兩件事：右下角那個半透明的「？？？」選項，以及左上角跳出來的提示「缺少情報『？？？』，或許該先打聽點消息」。</a:t>
            </a:r>
          </a:p>
          <a:p>
            <a:r>
              <a:t>最下面那個 bug 可以當收尾：這個為了體驗做的改動，順手消滅了一個索引錯位的結構性風險。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這一章是很標準的物件導向教學案例，但有真實專案脈絡撐著。</a:t>
            </a:r>
          </a:p>
          <a:p>
            <a:r>
              <a:t>左邊列的五條規則，每個面板都要遵守。如果各自實作，五個面板就是五份幾乎一樣的程式碼，而且一定會有某個面板漏掉某一條。</a:t>
            </a:r>
          </a:p>
          <a:p>
            <a:r>
              <a:t>右邊三層：介面規定契約，基底類別實作共同行為，管理者處理互斥。</a:t>
            </a:r>
          </a:p>
          <a:p>
            <a:r>
              <a:t>最下面那個細節可以當小驚喜：為什麼同一個功能要有兩個關閉方法？</a:t>
            </a:r>
          </a:p>
          <a:p>
            <a:r>
              <a:t>因為呼叫方向不一樣。玩家自己關的要回報「我關了」；但如果是管理者叫它關的，再回報就會讓管理者誤以為現在沒有面板開著。這種 bug 很難查，因為症狀是「按 Esc 偶爾沒反應」。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後來要把背包、任務、情報做成可以用滑鼠切換的分頁，另外設定面板裡也要有音量／鍵位的子分頁。</a:t>
            </a:r>
          </a:p>
          <a:p>
            <a:r>
              <a:t>這兩個需求看起來是兩個不同的東西——左上那張表列了四個差異。</a:t>
            </a:r>
          </a:p>
          <a:p>
            <a:r>
              <a:t>但它們的骨架完全一樣：一排按鈕、點了切換、選中的亮起。所以我做成同一個元件，用一個開關切換行為。</a:t>
            </a:r>
          </a:p>
          <a:p>
            <a:r>
              <a:t>左下那兩張圖就是同一個元件跑出來的兩種畫面：左邊是視窗模式的三個分頁，右邊是設定面板裡的音量／鍵位子分頁。</a:t>
            </a:r>
          </a:p>
          <a:p>
            <a:r>
              <a:t>這裡值得講的是判準：什麼時候該合併、什麼時候該分開寫？我的標準是骨架有沒有真的一樣。如果只是看起來像就硬合併，程式碼最後會充滿 if 判斷。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存檔放在最後一章是有意的：前面四章做的所有東西——玩家位置、地圖狀態、任務情報、背包——全部都要能被存下來。它是整合章，不是新功能。</a:t>
            </a:r>
          </a:p>
          <a:p>
            <a:r>
              <a:t>而且它直接回扣第 1 章那個坑。存檔其實有兩層：關掉遊戲要記得住是明顯的那層；但同一次遊玩之內世界的改變也要記得住，才是真正麻煩的那層，而且必須先解決。</a:t>
            </a:r>
          </a:p>
          <a:p>
            <a:r>
              <a:t>右上角那個小決定值得提：拾取物的唯一 ID 我用亂數而不是手動編號。因為手動編號一定會撞號，而撞號的症狀是「撿了 A 之後 B 也消失」，幾乎查不出來。</a:t>
            </a:r>
          </a:p>
          <a:p>
            <a:r>
              <a:t>右下第三個存檔時機也值得講——它不是技術問題，是信任問題。玩家開了新遊戲馬上關掉，如果存檔槽還顯示空的，他會以為遊戲壞了。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這一頁是整章最有料的地方：存檔要面對一個看似枯燥、其實很關鍵的決定。</a:t>
            </a:r>
          </a:p>
          <a:p>
            <a:r>
              <a:t>遊戲跑的時候，一條任務在記憶體裡是一個指標。但指標存不進檔案——下次開遊戲那個位址就沒意義了。所以要換成字串 ID，讀檔時再查回來。</a:t>
            </a:r>
          </a:p>
          <a:p>
            <a:r>
              <a:t>問題是怎麼查。Unity 有個現成的查詢工具，但它只在編輯器裡存在。編輯器裡測一切正常，玩家拿到的版本一讀檔就崩——這是遊戲開發最容易翻車的一類問題。</a:t>
            </a:r>
          </a:p>
          <a:p>
            <a:r>
              <a:t>右上那個坑我想留給聽眾一個問題：一個程式沒有報錯，是不是就代表它是對的？</a:t>
            </a:r>
          </a:p>
          <a:p>
            <a:r>
              <a:t>讀檔找不到玩家角色，因為它當下是關閉狀態，而 Unity 的搜尋函式預設會跳過關閉的物件。不報錯、不警告，就是安靜地跳過。玩家出現在地圖外面。</a:t>
            </a:r>
          </a:p>
          <a:p>
            <a:r>
              <a:t>右下那張是存檔槽畫面，三個槽位、顯示場景名稱、存檔時間跟遊玩時數，還可以個別刪除。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這一頁快速帶過，每個講一句就好，主要是讓聽眾知道 Demo 的完整度。</a:t>
            </a:r>
          </a:p>
          <a:p>
            <a:r>
              <a:t>如果要挑一個講，我建議講鍵位設定的「衝突自動對調」——多數遊戲遇到按鍵衝突是跳錯誤訊息叫玩家自己解決，我選擇直接把兩個動作的按鍵對調。這樣永遠不會出現某個動作沒有鍵可按的狀態，也不用跟玩家解釋任何事。</a:t>
            </a:r>
          </a:p>
          <a:p>
            <a:r>
              <a:t>最後一個字型工程如果有人問，就翻到附錄。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收尾頁。上面的數字用來給規模感，不用一個一個念。</a:t>
            </a:r>
          </a:p>
          <a:p>
            <a:r>
              <a:t>左邊四個原則是我寫完整份技術文件之後回頭歸納的，我覺得這是整個專案最有價值的產出——因為它們可以帶到下一個專案，而具體的程式碼不行。</a:t>
            </a:r>
          </a:p>
          <a:p>
            <a:r>
              <a:t>特別是第一個和第四個。第一個貫穿了三個看起來完全無關的 bug；第四個是我後來每次做完功能都會問自己的問題：我要怎麼證明它是對的？</a:t>
            </a:r>
          </a:p>
          <a:p>
            <a:r>
              <a:t>右邊刻意列出沒做的事。報告誠實列出限制，比假裝一切完美更有說服力，而且這些正好就是「未來展望」。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這是備用投影片，正式報告時跳過。如果被問到「開發中遇過最難的 bug」就翻到這裡。</a:t>
            </a:r>
          </a:p>
          <a:p>
            <a:r>
              <a:t>症狀很簡單：對話框裡有些字特別大。但成因有四層，每一層都要單獨解決。</a:t>
            </a:r>
          </a:p>
          <a:p>
            <a:r>
              <a:t>主因是第二層：我的主字型是像素風的 Silver，字符集很小，遇到它沒有的中文字就會自動換成備援字型 Cubic。而 Cubic 天生就比 Silver 高了將近六成——這是字型設計本身的差異。</a:t>
            </a:r>
          </a:p>
          <a:p>
            <a:r>
              <a:t>右邊那張表是我覺得最值得講的：我試了三個欄位，前兩個都無效。為什麼無效？因為改它們的時候，字高本身也會等比例變化，兩邊相乘剛好抵銷。</a:t>
            </a:r>
          </a:p>
          <a:p>
            <a:r>
              <a:t>這個過程我繞了兩輪、看數字以為修好了、截圖發現還是錯。教訓是：要先搞清楚哪個變數是真正獨立的，不然你只是在原地打轉。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接續前一頁。第三層是垂直對齊，第四層是這整件事最有教學價值的部分。</a:t>
            </a:r>
          </a:p>
          <a:p>
            <a:r>
              <a:t>第四層的狀況是：編輯器裡怎麼測都正常，但打包出來的執行檔，字又高低不一了。</a:t>
            </a:r>
          </a:p>
          <a:p>
            <a:r>
              <a:t>真因是動態字型資產有一個預設開啟的選項，會在建置時把我手動改好的資料整個清空。徵兆很好認——建置完回到編輯器，會發現字元數從 180 掉到 19。</a:t>
            </a:r>
          </a:p>
          <a:p>
            <a:r>
              <a:t>修法要兩件一起做：關掉那個選項，而且事先把全遊戲會用到的 591 個字都烘進字型資產，不要依賴執行期動態產生。</a:t>
            </a:r>
          </a:p>
          <a:p>
            <a:r>
              <a:t>這是典型的 build-only 問題。教訓是：任何「手動改過資產內容」的做法，都必須考慮建置流程會不會把它清掉——編輯器內測得再乾淨都沒用。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81328"/>
            <a:ext cx="6400800" cy="233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TW" sz="13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小</a:t>
            </a:r>
            <a:r>
              <a:rPr sz="13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專題報告 · 2D JRPG 開發</a:t>
            </a:r>
            <a:endParaRPr sz="13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1847088"/>
            <a:ext cx="64008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林溪村</a:t>
            </a:r>
            <a:endParaRPr sz="64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2999232"/>
            <a:ext cx="6583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7FA65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遊戲內容與系統技術解析</a:t>
            </a:r>
            <a:endParaRPr sz="2200" b="1">
              <a:solidFill>
                <a:srgbClr val="7FA65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3584448"/>
            <a:ext cx="6400800" cy="267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B9C7B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一款 Unity 2D 俯視角角色扮演遊戲</a:t>
            </a:r>
            <a:endParaRPr sz="1300" b="0">
              <a:solidFill>
                <a:srgbClr val="B9C7B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" y="4846320"/>
            <a:ext cx="2377440" cy="45720"/>
          </a:xfrm>
          <a:prstGeom prst="roundRect">
            <a:avLst>
              <a:gd name="adj" fmla="val 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38928"/>
            <a:ext cx="6400800" cy="472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8FA396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Unity 6000.3 · C# · 65 支腳本 · 7 個場景</a:t>
            </a:r>
            <a:endParaRPr sz="1150" b="0">
              <a:solidFill>
                <a:srgbClr val="8FA396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8FA396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開發者：</a:t>
            </a:r>
            <a:r>
              <a:rPr lang="zh-TW" sz="1150" b="0">
                <a:solidFill>
                  <a:srgbClr val="8FA396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資工三 江裕恩</a:t>
            </a:r>
            <a:r>
              <a:rPr sz="1150" b="0">
                <a:solidFill>
                  <a:srgbClr val="8FA396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　·　2026</a:t>
            </a:r>
            <a:endParaRPr sz="1150" b="0">
              <a:solidFill>
                <a:srgbClr val="8FA396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1185" y="389763"/>
            <a:ext cx="1100297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導覽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834263"/>
            <a:ext cx="11002975" cy="556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TW"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開發過程、工具和素材</a:t>
            </a:r>
            <a:endParaRPr lang="zh-TW"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92570" y="3915283"/>
            <a:ext cx="5440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我使用 </a:t>
            </a:r>
            <a:r>
              <a:rPr lang="en-US"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itch.io </a:t>
            </a:r>
            <a:r>
              <a:rPr lang="zh-TW"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網站上找到的免費素材，由 Anokolisa 所製作。</a:t>
            </a:r>
            <a:endParaRPr lang="zh-TW"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41160" y="389763"/>
            <a:ext cx="5440680" cy="431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TW" sz="24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美術素材</a:t>
            </a:r>
            <a:endParaRPr lang="zh-TW" sz="24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1160" y="979805"/>
            <a:ext cx="3540760" cy="2790825"/>
          </a:xfrm>
          <a:prstGeom prst="rect">
            <a:avLst/>
          </a:prstGeom>
        </p:spPr>
      </p:pic>
      <p:sp>
        <p:nvSpPr>
          <p:cNvPr id="19" name="TextBox 3"/>
          <p:cNvSpPr txBox="1"/>
          <p:nvPr/>
        </p:nvSpPr>
        <p:spPr>
          <a:xfrm>
            <a:off x="6592570" y="5044313"/>
            <a:ext cx="5440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p>
            <a:pPr algn="l">
              <a:lnSpc>
                <a:spcPct val="150000"/>
              </a:lnSpc>
            </a:pPr>
            <a:r>
              <a:rPr lang="zh-TW"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我透過與</a:t>
            </a:r>
            <a:r>
              <a:rPr lang="en-US" altLang="zh-TW"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 claude </a:t>
            </a:r>
            <a:r>
              <a:rPr lang="zh-TW" altLang="en-US"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對話來學習</a:t>
            </a:r>
            <a:r>
              <a:rPr lang="en-US" altLang="zh-TW"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 unity </a:t>
            </a:r>
            <a:r>
              <a:rPr lang="zh-TW" altLang="en-US"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的知識，並透過</a:t>
            </a:r>
            <a:r>
              <a:rPr lang="en-US" altLang="zh-TW"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 claude </a:t>
            </a:r>
            <a:r>
              <a:rPr lang="zh-TW" altLang="en-US"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的 </a:t>
            </a:r>
            <a:r>
              <a:rPr lang="en-US" altLang="zh-TW"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AI agent - claude code </a:t>
            </a:r>
            <a:r>
              <a:rPr lang="zh-TW" altLang="en-US"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與 </a:t>
            </a:r>
            <a:r>
              <a:rPr lang="en-US" altLang="zh-TW"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unity </a:t>
            </a:r>
            <a:r>
              <a:rPr lang="zh-TW" altLang="en-US"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的 </a:t>
            </a:r>
            <a:r>
              <a:rPr lang="en-US" altLang="zh-TW"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unity CLI </a:t>
            </a:r>
            <a:r>
              <a:rPr lang="zh-TW" altLang="en-US"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協助我開發與除錯。</a:t>
            </a:r>
            <a:endParaRPr lang="zh-TW" altLang="en-US"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0" name="TextBox 4"/>
          <p:cNvSpPr txBox="1"/>
          <p:nvPr/>
        </p:nvSpPr>
        <p:spPr>
          <a:xfrm>
            <a:off x="6592570" y="4528058"/>
            <a:ext cx="5440680" cy="431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p>
            <a:pPr algn="l">
              <a:lnSpc>
                <a:spcPct val="118000"/>
              </a:lnSpc>
            </a:pPr>
            <a:r>
              <a:rPr lang="zh-TW" altLang="en-US" sz="24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開發流程與工具</a:t>
            </a:r>
            <a:endParaRPr lang="zh-TW" altLang="en-US" sz="24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1185" y="389763"/>
            <a:ext cx="1100297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導覽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100297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這個 Demo 是什麼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664208"/>
            <a:ext cx="5440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一個可以完整走完的村莊探索流程：接任務、蒐集道具、解謎、回報、存檔。玩家扮演路過的旅人，捲進村中三個人的麻煩事。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2620518"/>
            <a:ext cx="5440680" cy="431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規模數字</a:t>
            </a:r>
            <a:endParaRPr sz="24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3163824"/>
            <a:ext cx="2560320" cy="56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7</a:t>
            </a:r>
            <a:endParaRPr sz="34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3770884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個場景</a:t>
            </a:r>
            <a:endParaRPr sz="11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83279" y="3163824"/>
            <a:ext cx="2560320" cy="56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3</a:t>
            </a:r>
            <a:endParaRPr sz="34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83279" y="3770884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位任務 NPC</a:t>
            </a:r>
            <a:endParaRPr sz="11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4096512"/>
            <a:ext cx="2560320" cy="56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4</a:t>
            </a:r>
            <a:endParaRPr sz="34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470357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條任務</a:t>
            </a:r>
            <a:endParaRPr sz="11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83279" y="4096512"/>
            <a:ext cx="2560320" cy="56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65</a:t>
            </a:r>
            <a:endParaRPr sz="34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83279" y="470357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支 C# 腳本</a:t>
            </a:r>
            <a:endParaRPr sz="11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4360" y="5138928"/>
            <a:ext cx="5440680" cy="932688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5285232"/>
            <a:ext cx="4937760" cy="575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核心體驗：沒有戰鬥。所有推進都靠「跟人說話」與「觀察環境」，所以對話與任務系統是整個專案的骨幹。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pic>
        <p:nvPicPr>
          <p:cNvPr id="16" name="Picture 15" descr="全地圖.png"/>
          <p:cNvPicPr>
            <a:picLocks noChangeAspect="1"/>
          </p:cNvPicPr>
          <p:nvPr/>
        </p:nvPicPr>
        <p:blipFill>
          <a:blip r:embed="rId1"/>
          <a:srcRect t="1498" b="1498"/>
          <a:stretch>
            <a:fillRect/>
          </a:stretch>
        </p:blipFill>
        <p:spPr>
          <a:xfrm>
            <a:off x="6492240" y="1664208"/>
            <a:ext cx="5102352" cy="4407408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6492240" y="6126480"/>
            <a:ext cx="5102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林溪村全圖：西、北、南三面密林，東面靠河流天然阻隔</a:t>
            </a:r>
            <a:endParaRPr sz="10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遊戲內容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7375" y="749808"/>
            <a:ext cx="1100297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林溪村與三位村民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99870"/>
            <a:ext cx="3502025" cy="4955540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愛拉位置.png"/>
          <p:cNvPicPr>
            <a:picLocks noChangeAspect="1"/>
          </p:cNvPicPr>
          <p:nvPr/>
        </p:nvPicPr>
        <p:blipFill>
          <a:blip r:embed="rId1"/>
          <a:srcRect l="18059" t="-3" r="21906" b="33387"/>
          <a:stretch>
            <a:fillRect/>
          </a:stretch>
        </p:blipFill>
        <p:spPr>
          <a:xfrm>
            <a:off x="739775" y="2625090"/>
            <a:ext cx="3211195" cy="1732915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67842" y="4526280"/>
            <a:ext cx="2990088" cy="927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染病的少女。她是玩家取得所有情報的起點——主線任務與亞爾的祕密都從她口中流出。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270375" y="1499870"/>
            <a:ext cx="3502025" cy="4955540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亞爾位置.png"/>
          <p:cNvPicPr>
            <a:picLocks noChangeAspect="1"/>
          </p:cNvPicPr>
          <p:nvPr/>
        </p:nvPicPr>
        <p:blipFill>
          <a:blip r:embed="rId2"/>
          <a:srcRect l="26000" t="5232" r="14000" b="33232"/>
          <a:stretch>
            <a:fillRect/>
          </a:stretch>
        </p:blipFill>
        <p:spPr>
          <a:xfrm>
            <a:off x="4416552" y="2628900"/>
            <a:ext cx="3209544" cy="1600200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4526280" y="4663440"/>
            <a:ext cx="2990088" cy="927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坐在村口、脾氣暴躁的中年人。喜惡分明、直來直往。他在森林裡弄丟了佩劍，但不會主動對外人提。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946390" y="1499870"/>
            <a:ext cx="3502025" cy="4955540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賽勒位置.png"/>
          <p:cNvPicPr>
            <a:picLocks noChangeAspect="1"/>
          </p:cNvPicPr>
          <p:nvPr/>
        </p:nvPicPr>
        <p:blipFill>
          <a:blip r:embed="rId3"/>
          <a:srcRect l="27000" t="14281" r="13000" b="24281"/>
          <a:stretch>
            <a:fillRect/>
          </a:stretch>
        </p:blipFill>
        <p:spPr>
          <a:xfrm>
            <a:off x="8092440" y="2926080"/>
            <a:ext cx="3209544" cy="1600200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8202167" y="4663440"/>
            <a:ext cx="2990088" cy="927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在鍊藥桌前的</a:t>
            </a:r>
            <a:r>
              <a:rPr lang="zh-TW"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年老煉藥師</a:t>
            </a:r>
            <a:r>
              <a:rPr sz="14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。給玩家兩階段委託：先找回配方，再依比例採齊三種作物。</a:t>
            </a:r>
            <a:endParaRPr sz="14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7" name="TextBox 7"/>
          <p:cNvSpPr txBox="1"/>
          <p:nvPr/>
        </p:nvSpPr>
        <p:spPr>
          <a:xfrm>
            <a:off x="767715" y="2244090"/>
            <a:ext cx="3072765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p>
            <a:pPr algn="l">
              <a:lnSpc>
                <a:spcPct val="100000"/>
              </a:lnSpc>
            </a:pPr>
            <a:r>
              <a:rPr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委託人 · 情報中樞</a:t>
            </a:r>
            <a:endParaRPr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8" name="TextBox 19"/>
          <p:cNvSpPr txBox="1"/>
          <p:nvPr/>
        </p:nvSpPr>
        <p:spPr>
          <a:xfrm>
            <a:off x="8119745" y="2178050"/>
            <a:ext cx="3072765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p>
            <a:pPr algn="l">
              <a:lnSpc>
                <a:spcPct val="100000"/>
              </a:lnSpc>
            </a:pPr>
            <a:r>
              <a:rPr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煉藥師</a:t>
            </a:r>
            <a:endParaRPr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9" name="TextBox 6"/>
          <p:cNvSpPr txBox="1"/>
          <p:nvPr/>
        </p:nvSpPr>
        <p:spPr>
          <a:xfrm>
            <a:off x="767715" y="1785620"/>
            <a:ext cx="3072765" cy="458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愛拉</a:t>
            </a:r>
            <a:endParaRPr sz="28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0" name="TextBox 12"/>
          <p:cNvSpPr txBox="1"/>
          <p:nvPr/>
        </p:nvSpPr>
        <p:spPr>
          <a:xfrm>
            <a:off x="4552950" y="1736090"/>
            <a:ext cx="3072765" cy="458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亞爾</a:t>
            </a:r>
            <a:endParaRPr sz="28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1" name="TextBox 13"/>
          <p:cNvSpPr txBox="1"/>
          <p:nvPr/>
        </p:nvSpPr>
        <p:spPr>
          <a:xfrm>
            <a:off x="4526280" y="2178050"/>
            <a:ext cx="3072765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p>
            <a:pPr algn="l">
              <a:lnSpc>
                <a:spcPct val="100000"/>
              </a:lnSpc>
            </a:pPr>
            <a:r>
              <a:rPr lang="zh-TW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中年</a:t>
            </a:r>
            <a:r>
              <a:rPr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戰士</a:t>
            </a:r>
            <a:endParaRPr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2" name="TextBox 18"/>
          <p:cNvSpPr txBox="1"/>
          <p:nvPr/>
        </p:nvSpPr>
        <p:spPr>
          <a:xfrm>
            <a:off x="8119745" y="1617980"/>
            <a:ext cx="3072765" cy="458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賽勒</a:t>
            </a:r>
            <a:endParaRPr sz="28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遊戲內容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100297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主線流程：一瓶藥的距離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2011680" cy="2240280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048256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01</a:t>
            </a:r>
            <a:endParaRPr sz="13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263347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愛拉病倒</a:t>
            </a:r>
            <a:endParaRPr sz="14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2999232"/>
            <a:ext cx="14813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玩家進村，遇上臥病的愛拉，接下尋藥委託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2679191" y="2788920"/>
            <a:ext cx="274320" cy="201168"/>
          </a:xfrm>
          <a:prstGeom prst="rightArrow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0" y="1828800"/>
            <a:ext cx="2011680" cy="2240280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0" y="2048256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02</a:t>
            </a:r>
            <a:endParaRPr sz="13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08960" y="263347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打聽情報</a:t>
            </a:r>
            <a:endParaRPr sz="14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08960" y="2999232"/>
            <a:ext cx="14813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跟愛拉深聊，解鎖情報，得知村中其他人的狀況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919472" y="2788920"/>
            <a:ext cx="274320" cy="201168"/>
          </a:xfrm>
          <a:prstGeom prst="rightArrow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74920" y="1828800"/>
            <a:ext cx="2011680" cy="2240280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49240" y="2048256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03</a:t>
            </a:r>
            <a:endParaRPr sz="13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49240" y="263347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尋找配方</a:t>
            </a:r>
            <a:endParaRPr sz="14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49240" y="2999232"/>
            <a:ext cx="14813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賽勒弄丟了藥方，玩家到他屋內的桌上找回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7159752" y="2788920"/>
            <a:ext cx="274320" cy="201168"/>
          </a:xfrm>
          <a:prstGeom prst="rightArrow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0" y="1828800"/>
            <a:ext cx="2011680" cy="2240280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89520" y="2048256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04</a:t>
            </a:r>
            <a:endParaRPr sz="13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89520" y="263347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比例謎題</a:t>
            </a:r>
            <a:endParaRPr sz="14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89520" y="2999232"/>
            <a:ext cx="14813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配方寫比例不寫數量，玩家要自己換算成整數份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9400032" y="2788920"/>
            <a:ext cx="274320" cy="201168"/>
          </a:xfrm>
          <a:prstGeom prst="rightArrow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55480" y="1828800"/>
            <a:ext cx="2011680" cy="2240280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9800" y="2048256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05</a:t>
            </a:r>
            <a:endParaRPr sz="13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829800" y="263347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煉藥送回</a:t>
            </a:r>
            <a:endParaRPr sz="14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829800" y="2999232"/>
            <a:ext cx="14813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交齊作物、取得成藥、送回愛拉手上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遊戲內容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834263"/>
            <a:ext cx="1100297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支線：亞爾的佩劍與兩種結局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94360" y="1664208"/>
            <a:ext cx="2606040" cy="1133856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3246120" y="2157984"/>
            <a:ext cx="128016" cy="146304"/>
          </a:xfrm>
          <a:prstGeom prst="rightArrow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92424" y="1664208"/>
            <a:ext cx="2606040" cy="1133856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977" y="1810512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取得情報</a:t>
            </a:r>
            <a:endParaRPr sz="12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977" y="2121408"/>
            <a:ext cx="22402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跟愛拉聊過，才知道那是亞爾弄丟的</a:t>
            </a:r>
            <a:endParaRPr sz="9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6044183" y="2157984"/>
            <a:ext cx="128016" cy="146304"/>
          </a:xfrm>
          <a:prstGeom prst="rightArrow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0488" y="1664208"/>
            <a:ext cx="2606040" cy="1133856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842248" y="2157984"/>
            <a:ext cx="128016" cy="146304"/>
          </a:xfrm>
          <a:prstGeom prst="rightArrow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88552" y="1664208"/>
            <a:ext cx="2606040" cy="1133856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810512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玩家抉擇</a:t>
            </a:r>
            <a:endParaRPr sz="12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89720" y="2121408"/>
            <a:ext cx="22402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歸還，或是留下自用</a:t>
            </a:r>
            <a:endParaRPr sz="9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94360" y="2999232"/>
            <a:ext cx="5257800" cy="1225296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104" y="3200400"/>
            <a:ext cx="310896" cy="310896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2728" y="3163824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歸還佩劍</a:t>
            </a:r>
            <a:endParaRPr sz="15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2104" y="3566160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亞爾收下劍，態度軟化。標記 Yaer_SwordReturned，未來章節他會成為助力。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94360" y="4334256"/>
            <a:ext cx="5257800" cy="1225296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2104" y="4535424"/>
            <a:ext cx="310896" cy="31089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52728" y="4498848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留著自用</a:t>
            </a:r>
            <a:endParaRPr sz="15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2104" y="4901184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玩家保有一件實用裝備。標記 Yaer_SwordKept，這條任務永遠不會完成。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pic>
        <p:nvPicPr>
          <p:cNvPr id="29" name="Picture 28" descr="亞爾任務-是否還劍.png"/>
          <p:cNvPicPr>
            <a:picLocks noChangeAspect="1"/>
          </p:cNvPicPr>
          <p:nvPr/>
        </p:nvPicPr>
        <p:blipFill>
          <a:blip r:embed="rId1"/>
          <a:srcRect t="96" b="96"/>
          <a:stretch>
            <a:fillRect/>
          </a:stretch>
        </p:blipFill>
        <p:spPr>
          <a:xfrm>
            <a:off x="6035040" y="2999232"/>
            <a:ext cx="5559552" cy="2697480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6035040" y="5797296"/>
            <a:ext cx="5559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實機畫面：撿到劍並解鎖情報後，亞爾的對話才會長出「劍，我找到了」這個選項。</a:t>
            </a:r>
            <a:endParaRPr sz="105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1" name="TextBox 4"/>
          <p:cNvSpPr txBox="1"/>
          <p:nvPr/>
        </p:nvSpPr>
        <p:spPr>
          <a:xfrm>
            <a:off x="6373368" y="1810512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p>
            <a:pPr algn="l">
              <a:lnSpc>
                <a:spcPct val="118000"/>
              </a:lnSpc>
            </a:pPr>
            <a:r>
              <a:rPr sz="12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森林拾劍</a:t>
            </a:r>
            <a:endParaRPr sz="12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2" name="TextBox 5"/>
          <p:cNvSpPr txBox="1"/>
          <p:nvPr/>
        </p:nvSpPr>
        <p:spPr>
          <a:xfrm>
            <a:off x="6373368" y="2121408"/>
            <a:ext cx="22402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p>
            <a:pPr algn="l">
              <a:lnSpc>
                <a:spcPct val="130000"/>
              </a:lnSpc>
            </a:pPr>
            <a:r>
              <a:rPr sz="9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玩家在森林裡撿到一把舊佩劍</a:t>
            </a:r>
            <a:endParaRPr sz="9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3" name="TextBox 12"/>
          <p:cNvSpPr txBox="1"/>
          <p:nvPr/>
        </p:nvSpPr>
        <p:spPr>
          <a:xfrm>
            <a:off x="3611626" y="1810512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p>
            <a:pPr algn="l">
              <a:lnSpc>
                <a:spcPct val="118000"/>
              </a:lnSpc>
            </a:pPr>
            <a:r>
              <a:rPr sz="12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開啟對話</a:t>
            </a:r>
            <a:endParaRPr sz="12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4" name="TextBox 13"/>
          <p:cNvSpPr txBox="1"/>
          <p:nvPr/>
        </p:nvSpPr>
        <p:spPr>
          <a:xfrm>
            <a:off x="3611626" y="2121408"/>
            <a:ext cx="22402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p>
            <a:pPr algn="l">
              <a:lnSpc>
                <a:spcPct val="130000"/>
              </a:lnSpc>
            </a:pPr>
            <a:r>
              <a:rPr sz="9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情報解鎖後，亞爾的對話才出現關鍵選項</a:t>
            </a:r>
            <a:endParaRPr sz="9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" y="365760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1</a:t>
            </a:r>
            <a:endParaRPr sz="17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1288" y="365760"/>
            <a:ext cx="5486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 1 章 · 場景架構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85952"/>
            <a:ext cx="1100297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換場景時，東西全都不見了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587881"/>
            <a:ext cx="5074920" cy="1481328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70761"/>
            <a:ext cx="4480560" cy="287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問題：換舞台會把台上的東西全部清掉</a:t>
            </a:r>
            <a:endParaRPr sz="16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6968" y="2173097"/>
            <a:ext cx="4480560" cy="59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玩家角色、攝影機、背包道具、任務進度全部歸零。</a:t>
            </a:r>
            <a:endParaRPr sz="140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最早版本走進房子就會發現背包空了、玩家回到地圖原點。</a:t>
            </a:r>
            <a:endParaRPr sz="140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9915" y="3273298"/>
            <a:ext cx="5074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第一次嘗試：DontDestroyOnLoad</a:t>
            </a:r>
            <a:endParaRPr sz="13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9915" y="3657346"/>
            <a:ext cx="5074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Unity 內建的標記功能，可以讓物件在換場景時不被銷毀。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5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它能動——但它把維護成本轉嫁到「人要記得」上面。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053328" y="1700784"/>
            <a:ext cx="5532120" cy="420624"/>
          </a:xfrm>
          <a:prstGeom prst="roundRect">
            <a:avLst>
              <a:gd name="adj" fmla="val 5000"/>
            </a:avLst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700784"/>
            <a:ext cx="16916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比較項目</a:t>
            </a:r>
            <a:endParaRPr sz="115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73568" y="1700784"/>
            <a:ext cx="16916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F0C88A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DontDestroyOnLoad</a:t>
            </a:r>
            <a:endParaRPr sz="1100" b="1">
              <a:solidFill>
                <a:srgbClr val="F0C88A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02367" y="1700784"/>
            <a:ext cx="16459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常駐場景</a:t>
            </a:r>
            <a:endParaRPr sz="11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53328" y="2194560"/>
            <a:ext cx="5532120" cy="585216"/>
          </a:xfrm>
          <a:prstGeom prst="roundRect">
            <a:avLst>
              <a:gd name="adj" fmla="val 4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2194560"/>
            <a:ext cx="16916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常駐物件在哪</a:t>
            </a:r>
            <a:endParaRPr sz="11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73568" y="2194560"/>
            <a:ext cx="17373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散在各處，靠標記</a:t>
            </a:r>
            <a:endParaRPr sz="11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802367" y="2194560"/>
            <a:ext cx="164592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集中在一個場景檔</a:t>
            </a:r>
            <a:endParaRPr sz="1100" b="1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053328" y="2852928"/>
            <a:ext cx="5532120" cy="585216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852928"/>
            <a:ext cx="16916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編輯器內能調嗎</a:t>
            </a:r>
            <a:endParaRPr sz="11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73568" y="2852928"/>
            <a:ext cx="17373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執行時才存在，很難</a:t>
            </a:r>
            <a:endParaRPr sz="11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02367" y="2852928"/>
            <a:ext cx="164592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打開就能編輯</a:t>
            </a:r>
            <a:endParaRPr sz="1100" b="1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053328" y="3511296"/>
            <a:ext cx="5532120" cy="585216"/>
          </a:xfrm>
          <a:prstGeom prst="roundRect">
            <a:avLst>
              <a:gd name="adj" fmla="val 4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3511296"/>
            <a:ext cx="16916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會不會漏標記</a:t>
            </a:r>
            <a:endParaRPr sz="11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973568" y="3511296"/>
            <a:ext cx="17373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會，而且不報錯</a:t>
            </a:r>
            <a:endParaRPr sz="11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802367" y="3511296"/>
            <a:ext cx="164592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不存在這個問題</a:t>
            </a:r>
            <a:endParaRPr sz="1100" b="1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053328" y="4169664"/>
            <a:ext cx="5532120" cy="585216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4169664"/>
            <a:ext cx="16916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重置遊戲</a:t>
            </a:r>
            <a:endParaRPr sz="11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73568" y="4169664"/>
            <a:ext cx="17373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手動逐一銷毀</a:t>
            </a:r>
            <a:endParaRPr sz="11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802367" y="4169664"/>
            <a:ext cx="164592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卸載上層即可</a:t>
            </a:r>
            <a:endParaRPr sz="1100" b="1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" y="365760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1</a:t>
            </a:r>
            <a:endParaRPr sz="17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1288" y="365760"/>
            <a:ext cx="5486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 1 章 · 場景架構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0297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常駐場景 ＋ 加法式載入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682496"/>
            <a:ext cx="5120640" cy="969264"/>
          </a:xfrm>
          <a:prstGeom prst="roundRect">
            <a:avLst>
              <a:gd name="adj" fmla="val 5000"/>
            </a:avLst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10512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上層 · 關卡場景（會被卸載）</a:t>
            </a:r>
            <a:endParaRPr sz="13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2157984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EAF2E4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村莊 · 四間室內 · 標題畫面</a:t>
            </a:r>
            <a:endParaRPr sz="1100" b="0">
              <a:solidFill>
                <a:srgbClr val="EAF2E4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2761488"/>
            <a:ext cx="5120640" cy="1188720"/>
          </a:xfrm>
          <a:prstGeom prst="roundRect">
            <a:avLst>
              <a:gd name="adj" fmla="val 5000"/>
            </a:avLst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9504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下層 · Persistent（永不卸載）</a:t>
            </a:r>
            <a:endParaRPr sz="13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255264"/>
            <a:ext cx="457200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 · 攝影機 · 全部管理器 · UI 畫布</a:t>
            </a:r>
            <a:endParaRPr sz="110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4096512"/>
            <a:ext cx="5120640" cy="1225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做法上沒有「把場景設成永久」這種開關——而是所有卸載指令的對象都是一個只存放關卡名稱的變數，它從來不會被指派成 Persistent。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「永遠載入」是「沒人去卸載它」的結果，不是一條要遵守的規則。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53328" y="1682496"/>
            <a:ext cx="5532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轉場的七個步驟</a:t>
            </a:r>
            <a:endParaRPr sz="13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6053328" y="2103120"/>
            <a:ext cx="274320" cy="2743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14261E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1</a:t>
            </a:r>
            <a:endParaRPr sz="1100" b="1">
              <a:solidFill>
                <a:srgbClr val="14261E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82512" y="2103120"/>
            <a:ext cx="1042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鎖住玩家輸入</a:t>
            </a:r>
            <a:endParaRPr sz="9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443216" y="2103120"/>
            <a:ext cx="274320" cy="274320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2</a:t>
            </a:r>
            <a:endParaRPr sz="11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0" y="2103120"/>
            <a:ext cx="1042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開啟黑幕滑鼠攔截</a:t>
            </a:r>
            <a:endParaRPr sz="9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833104" y="2103120"/>
            <a:ext cx="274320" cy="274320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3</a:t>
            </a:r>
            <a:endParaRPr sz="11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62288" y="2103120"/>
            <a:ext cx="1042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畫面淡出</a:t>
            </a:r>
            <a:endParaRPr sz="9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0222992" y="2103120"/>
            <a:ext cx="274320" cy="274320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4</a:t>
            </a:r>
            <a:endParaRPr sz="11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52176" y="2103120"/>
            <a:ext cx="1042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卸載目前關卡</a:t>
            </a:r>
            <a:endParaRPr sz="9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053328" y="2670048"/>
            <a:ext cx="274320" cy="274320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5</a:t>
            </a:r>
            <a:endParaRPr sz="11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82512" y="2670048"/>
            <a:ext cx="1042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加法式載入新關卡</a:t>
            </a:r>
            <a:endParaRPr sz="9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443216" y="2670048"/>
            <a:ext cx="274320" cy="2743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14261E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6</a:t>
            </a:r>
            <a:endParaRPr sz="1100" b="1">
              <a:solidFill>
                <a:srgbClr val="14261E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0" y="2670048"/>
            <a:ext cx="1042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定位到出生點</a:t>
            </a:r>
            <a:endParaRPr sz="9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8833104" y="2670048"/>
            <a:ext cx="274320" cy="274320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7</a:t>
            </a:r>
            <a:endParaRPr sz="11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62288" y="2670048"/>
            <a:ext cx="1042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淡入並解鎖輸入</a:t>
            </a:r>
            <a:endParaRPr sz="9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53328" y="3273552"/>
            <a:ext cx="55321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 6 步的出生點可以傳空值——讀檔時就是傳空的，因為要用存檔裡的精確座標。同一套流程因此能同時服務「走進門」與「讀檔進遊戲」。</a:t>
            </a:r>
            <a:endParaRPr sz="105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053328" y="4352544"/>
            <a:ext cx="5532120" cy="548640"/>
          </a:xfrm>
          <a:prstGeom prst="roundRect">
            <a:avLst>
              <a:gd name="adj" fmla="val 4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4352544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看不見 ≠ 不存在</a:t>
            </a:r>
            <a:endParaRPr sz="10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54112" y="4379976"/>
            <a:ext cx="37033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全螢幕黑幕平常是透明的，但它預設會攔截滑鼠事件——標題畫面按鈕全部點不動。</a:t>
            </a:r>
            <a:endParaRPr sz="9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" y="365760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2</a:t>
            </a:r>
            <a:endParaRPr sz="17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1288" y="365760"/>
            <a:ext cx="5486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 2 章 · 地圖圖層與邊界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0297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地圖怎麼疊起來，物件怎麼分前後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682496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地圖的圖層分工</a:t>
            </a:r>
            <a:endParaRPr sz="13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33271" y="2084831"/>
            <a:ext cx="4480560" cy="548640"/>
          </a:xfrm>
          <a:prstGeom prst="roundRect">
            <a:avLst>
              <a:gd name="adj" fmla="val 5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71016" y="2084831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4261E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前景遮蔽</a:t>
            </a:r>
            <a:endParaRPr sz="1200" b="1">
              <a:solidFill>
                <a:srgbClr val="14261E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79191" y="2084831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4261E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畫在玩家之上的樹冠、屋簷</a:t>
            </a:r>
            <a:endParaRPr sz="1000" b="0">
              <a:solidFill>
                <a:srgbClr val="14261E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86968" y="2724911"/>
            <a:ext cx="4480560" cy="548640"/>
          </a:xfrm>
          <a:prstGeom prst="roundRect">
            <a:avLst>
              <a:gd name="adj" fmla="val 5000"/>
            </a:avLst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724911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物件層</a:t>
            </a:r>
            <a:endParaRPr sz="12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32888" y="2724911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CE8DA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樹木、石頭、NPC、拾取物</a:t>
            </a:r>
            <a:endParaRPr sz="1000" b="0">
              <a:solidFill>
                <a:srgbClr val="DCE8DA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40664" y="3364991"/>
            <a:ext cx="4480560" cy="548640"/>
          </a:xfrm>
          <a:prstGeom prst="roundRect">
            <a:avLst>
              <a:gd name="adj" fmla="val 5000"/>
            </a:avLst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364991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碰撞層</a:t>
            </a:r>
            <a:endParaRPr sz="12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86584" y="3364991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CE8DA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看不見的阻擋範圍</a:t>
            </a:r>
            <a:endParaRPr sz="1000" b="0">
              <a:solidFill>
                <a:srgbClr val="DCE8DA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94360" y="4005071"/>
            <a:ext cx="4480560" cy="548640"/>
          </a:xfrm>
          <a:prstGeom prst="roundRect">
            <a:avLst>
              <a:gd name="adj" fmla="val 5000"/>
            </a:avLst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4005071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地面層</a:t>
            </a:r>
            <a:endParaRPr sz="12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40280" y="4005071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DCE8DA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草地、道路、河流的圖塊</a:t>
            </a:r>
            <a:endParaRPr sz="1000" b="0">
              <a:solidFill>
                <a:srgbClr val="DCE8DA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4663440"/>
            <a:ext cx="50292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圖層決定大分類，但同一層之內的前後關係必須每一幀重新計算。</a:t>
            </a:r>
            <a:endParaRPr sz="11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5120640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左：玩家站在樹前（完整顯示）　　右：玩家站在樹後（被樹幹遮住）</a:t>
            </a:r>
            <a:endParaRPr sz="10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pic>
        <p:nvPicPr>
          <p:cNvPr id="20" name="Picture 19" descr="樹前面.png"/>
          <p:cNvPicPr>
            <a:picLocks noChangeAspect="1"/>
          </p:cNvPicPr>
          <p:nvPr/>
        </p:nvPicPr>
        <p:blipFill>
          <a:blip r:embed="rId1"/>
          <a:srcRect l="33700" t="24086" r="32300" b="46086"/>
          <a:stretch>
            <a:fillRect/>
          </a:stretch>
        </p:blipFill>
        <p:spPr>
          <a:xfrm>
            <a:off x="594360" y="5413248"/>
            <a:ext cx="2487168" cy="1060704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pic>
        <p:nvPicPr>
          <p:cNvPr id="21" name="Picture 20" descr="樹後面.png"/>
          <p:cNvPicPr>
            <a:picLocks noChangeAspect="1"/>
          </p:cNvPicPr>
          <p:nvPr/>
        </p:nvPicPr>
        <p:blipFill>
          <a:blip r:embed="rId2"/>
          <a:srcRect l="33500" t="26134" r="32500" b="44134"/>
          <a:stretch>
            <a:fillRect/>
          </a:stretch>
        </p:blipFill>
        <p:spPr>
          <a:xfrm>
            <a:off x="3136391" y="5413248"/>
            <a:ext cx="2487168" cy="1060704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6053328" y="1682496"/>
            <a:ext cx="5532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Sprite Sort by Y：一行公式做出假立體感</a:t>
            </a:r>
            <a:endParaRPr sz="13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053328" y="2084831"/>
            <a:ext cx="5532120" cy="713232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2084831"/>
            <a:ext cx="50749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排序序號 ＝ 四捨五入( −(Y 座標 ＋ 微調值) × 100 )</a:t>
            </a:r>
            <a:endParaRPr sz="13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53328" y="2944368"/>
            <a:ext cx="553212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規則只有一句：畫面上越低的東西，畫在越前面。因為俯視角裡「比較低」在視覺上就代表「比較靠近鏡頭」。玩家走到樹下方就蓋住樹，走到上方就被樹蓋住。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53328" y="3895344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× 100 保留小數精度</a:t>
            </a:r>
            <a:endParaRPr sz="10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53328" y="4187952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不然同一格內的物件分不出前後</a:t>
            </a:r>
            <a:endParaRPr sz="95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87968" y="3895344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微調值給美術用</a:t>
            </a:r>
            <a:endParaRPr sz="10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887968" y="4187952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樹的座標在樹根，視覺重心卻在樹冠</a:t>
            </a:r>
            <a:endParaRPr sz="95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053328" y="4809744"/>
            <a:ext cx="5532120" cy="914400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4809744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坑：第一版只在遊戲執行時計算，導致編輯器裡看到的排序全是預設值——擺場景時所見不等於所得。修法是讓這段計算在編輯器裡也持續執行。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53328" y="5888736"/>
            <a:ext cx="5532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通則：跟視覺呈現有關的邏輯，最好在編輯器裡也生效。</a:t>
            </a:r>
            <a:endParaRPr sz="10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" y="365760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2</a:t>
            </a:r>
            <a:endParaRPr sz="17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1288" y="365760"/>
            <a:ext cx="5486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 2 章 · 地圖圖層與邊界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0297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不要空氣牆：先量地形，再決定要圍多少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682496"/>
            <a:ext cx="5120640" cy="1078992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82880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設計要求：不想要單純加空氣牆</a:t>
            </a:r>
            <a:endParaRPr sz="13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6968" y="2194560"/>
            <a:ext cx="45720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關鍵不在有沒有碰撞牆，而在「玩家看得到開闊地卻走不過去」才出戲。</a:t>
            </a:r>
            <a:endParaRPr sz="115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852928"/>
            <a:ext cx="512064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所以做法反過來：先用視覺講清楚這裡過不去，碰撞牆藏在樹後面——玩家從沒想過要往那邊走，自然不會意識到牆的存在。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pic>
        <p:nvPicPr>
          <p:cNvPr id="9" name="Picture 8" descr="地圖邊界.png"/>
          <p:cNvPicPr>
            <a:picLocks noChangeAspect="1"/>
          </p:cNvPicPr>
          <p:nvPr/>
        </p:nvPicPr>
        <p:blipFill>
          <a:blip r:embed="rId1"/>
          <a:srcRect t="22" b="22"/>
          <a:stretch>
            <a:fillRect/>
          </a:stretch>
        </p:blipFill>
        <p:spPr>
          <a:xfrm>
            <a:off x="594360" y="3529584"/>
            <a:ext cx="5120640" cy="2487168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94360" y="610819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230 棵邊界樹　·　5 道碰撞牆藏在樹後　·　村口留一個缺口通往眠雪鎮</a:t>
            </a:r>
            <a:endParaRPr sz="10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53328" y="1682496"/>
            <a:ext cx="5532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動手前先量了一次地形</a:t>
            </a:r>
            <a:endParaRPr sz="13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071616" y="2066543"/>
            <a:ext cx="5504688" cy="457200"/>
          </a:xfrm>
          <a:prstGeom prst="roundRect">
            <a:avLst>
              <a:gd name="adj" fmla="val 2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2103120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草地鋪設範圍</a:t>
            </a:r>
            <a:endParaRPr sz="1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84463" y="2103120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268 × 230 格</a:t>
            </a:r>
            <a:endParaRPr sz="11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81344" y="2578608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實際有裝飾的範圍</a:t>
            </a:r>
            <a:endParaRPr sz="1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84463" y="2578608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只有約 130 × 110 格</a:t>
            </a:r>
            <a:endParaRPr sz="11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071616" y="3017520"/>
            <a:ext cx="5504688" cy="457200"/>
          </a:xfrm>
          <a:prstGeom prst="roundRect">
            <a:avLst>
              <a:gd name="adj" fmla="val 2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4" y="3054096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河流（有碰撞）</a:t>
            </a:r>
            <a:endParaRPr sz="1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84463" y="3054096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y −49 到 54，連續無缺口、沒有橋</a:t>
            </a:r>
            <a:endParaRPr sz="11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81344" y="3529584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現有道路</a:t>
            </a:r>
            <a:endParaRPr sz="1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84463" y="3529584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全部止於地圖內部，沒有一條通到邊緣</a:t>
            </a:r>
            <a:endParaRPr sz="11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053328" y="4133087"/>
            <a:ext cx="5532120" cy="1152144"/>
          </a:xfrm>
          <a:prstGeom prst="roundRect">
            <a:avLst>
              <a:gd name="adj" fmla="val 5000"/>
            </a:avLst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4279392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最關鍵的發現：河流本身就是天然東界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27648" y="4645152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沒有橋、沒有缺口，玩家本來就過不去。東面完全不用做，只要在南北兩個尖端塞兩個小塞子防止繞路。</a:t>
            </a:r>
            <a:endParaRPr sz="110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53328" y="5468112"/>
            <a:ext cx="5532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需要圍的長度　</a:t>
            </a:r>
            <a:r>
              <a:rPr sz="1900" b="1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484 格</a:t>
            </a:r>
            <a:r>
              <a:rPr sz="14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　→　</a:t>
            </a:r>
            <a:r>
              <a:rPr sz="25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271 格</a:t>
            </a:r>
            <a:endParaRPr sz="25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53328" y="6089904"/>
            <a:ext cx="5532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工作量少了將近一半。先量再做，事實可能直接讓一半的工作消失。</a:t>
            </a:r>
            <a:endParaRPr sz="1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" y="365760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2</a:t>
            </a:r>
            <a:endParaRPr sz="17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1288" y="365760"/>
            <a:ext cx="5486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 2 章 · 地圖圖層與邊界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0297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怎麼證明玩家真的走不出去？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682496"/>
            <a:ext cx="5349240" cy="1261872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828800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錯誤的驗證方式：沿著牆掃一遍</a:t>
            </a:r>
            <a:endParaRPr sz="1300" b="1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392" y="2194560"/>
            <a:ext cx="48463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這只能證明「牆沒有破洞」，證明不了「沒有繞路」。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玩家可能從某個你完全沒想到的角度繞過去。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3108960"/>
            <a:ext cx="5349240" cy="2907792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329184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正確做法：洪水填充演算法（BFS）</a:t>
            </a:r>
            <a:endParaRPr sz="13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50392" y="3803903"/>
            <a:ext cx="237744" cy="237744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1</a:t>
            </a:r>
            <a:endParaRPr sz="10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79576" y="3749039"/>
            <a:ext cx="45262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DCE8DA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把整個區域切成 1 格 × 1 格的網格</a:t>
            </a:r>
            <a:endParaRPr sz="1100" b="0">
              <a:solidFill>
                <a:srgbClr val="DCE8DA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50392" y="4206240"/>
            <a:ext cx="237744" cy="237744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2</a:t>
            </a:r>
            <a:endParaRPr sz="10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79576" y="4151376"/>
            <a:ext cx="45262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DCE8DA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對每一格做碰撞偵測，標記哪些格子被擋住</a:t>
            </a:r>
            <a:endParaRPr sz="1100" b="0">
              <a:solidFill>
                <a:srgbClr val="DCE8DA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50392" y="4608575"/>
            <a:ext cx="237744" cy="237744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3</a:t>
            </a:r>
            <a:endParaRPr sz="10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79576" y="4553712"/>
            <a:ext cx="45262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DCE8DA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從村子中央的路上出發，往四個方向擴散</a:t>
            </a:r>
            <a:endParaRPr sz="1100" b="0">
              <a:solidFill>
                <a:srgbClr val="DCE8DA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50392" y="5010912"/>
            <a:ext cx="237744" cy="237744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4</a:t>
            </a:r>
            <a:endParaRPr sz="10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79576" y="4956048"/>
            <a:ext cx="45262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DCE8DA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擴散停止後，看玩家實際能到達的範圍有多大</a:t>
            </a:r>
            <a:endParaRPr sz="1100" b="0">
              <a:solidFill>
                <a:srgbClr val="DCE8DA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0392" y="5449824"/>
            <a:ext cx="48463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它不是「檢查我做的牆對不對」，而是直接模擬玩家會怎麼走。</a:t>
            </a:r>
            <a:endParaRPr sz="11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63640" y="1682496"/>
            <a:ext cx="53309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實測結果</a:t>
            </a:r>
            <a:endParaRPr sz="13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63640" y="2066543"/>
            <a:ext cx="5330952" cy="950976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2066543"/>
            <a:ext cx="4892040" cy="9509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可達範圍　x −59 ～ 40　·　y −54 ～ 55</a:t>
            </a:r>
            <a:endParaRPr sz="15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63640" y="3182112"/>
            <a:ext cx="5330952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這個數字同時證明兩件事：西、南、北三面都被擋在預期的位置；而東岸雖然地形一直鋪到 x = 71，玩家卻走不到——證明河流加上兩個塞子真的封住了。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63640" y="4187952"/>
            <a:ext cx="53309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順帶處理的數學地雷：相機夾制</a:t>
            </a:r>
            <a:endParaRPr sz="13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63640" y="4553712"/>
            <a:ext cx="5330952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夾制公式是「相機中心不能超過 邊界 ± 半個畫面」。但四間室內場景都比畫面小，這時「下限」會大於「上限」，直接套公式畫面會抖動。</a:t>
            </a:r>
            <a:endParaRPr sz="11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263640" y="5504688"/>
            <a:ext cx="5330952" cy="822960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3096" y="5504688"/>
            <a:ext cx="4892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正確行為是把相機釘在地圖中心，讓兩側均勻露出——黑邊變成對稱靜止的細框，看起來像刻意取景而不是破圖。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" y="365760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3</a:t>
            </a:r>
            <a:endParaRPr sz="17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1288" y="365760"/>
            <a:ext cx="5486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 3 章 · 對話 × 任務 × 情報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0297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讓「加一個 NPC」不用寫任何程式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682496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一個 RPG 的 NPC 必須做到</a:t>
            </a:r>
            <a:endParaRPr sz="13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6" name="Oval 5"/>
          <p:cNvSpPr/>
          <p:nvPr/>
        </p:nvSpPr>
        <p:spPr>
          <a:xfrm>
            <a:off x="594360" y="2135124"/>
            <a:ext cx="82296" cy="82296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66543"/>
            <a:ext cx="481888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還沒接任務時，說委託的話並給選項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Oval 7"/>
          <p:cNvSpPr/>
          <p:nvPr/>
        </p:nvSpPr>
        <p:spPr>
          <a:xfrm>
            <a:off x="594360" y="2500884"/>
            <a:ext cx="82296" cy="82296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432303"/>
            <a:ext cx="481888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接了任務還沒完成時，說催促的話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4360" y="2866644"/>
            <a:ext cx="82296" cy="82296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798063"/>
            <a:ext cx="481888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帶東西回來時收下、扣道具、發獎勵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94360" y="3232404"/>
            <a:ext cx="82296" cy="82296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163824"/>
            <a:ext cx="481888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任務結束後，說閒聊的話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4360" y="3598164"/>
            <a:ext cx="82296" cy="82296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529584"/>
            <a:ext cx="481888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而且這一切要能串成好幾個階段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360" y="3986784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86784"/>
            <a:ext cx="45262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如果寫死在程式裡，每加一個 NPC 就要新增一支腳本、每改一句台詞就要重新編譯。三個 NPC 還撐得住，三十個就不可能了。</a:t>
            </a:r>
            <a:endParaRPr sz="115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5175504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資料驅動（Data-Driven）</a:t>
            </a:r>
            <a:endParaRPr sz="13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5541264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程式只寫「怎麼判斷該說哪段話」；話的內容、任務條件、獎勵是什麼，全部放在編輯器裡可以填的資料檔裡。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53328" y="1682496"/>
            <a:ext cx="5532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三層資料結構</a:t>
            </a:r>
            <a:endParaRPr sz="13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053328" y="2066543"/>
            <a:ext cx="5532120" cy="566928"/>
          </a:xfrm>
          <a:prstGeom prst="roundRect">
            <a:avLst>
              <a:gd name="adj" fmla="val 5000"/>
            </a:avLst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066543"/>
            <a:ext cx="5029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NPCConversationData　一個 NPC 一個檔案</a:t>
            </a:r>
            <a:endParaRPr sz="125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64224" y="2724912"/>
            <a:ext cx="5221224" cy="566928"/>
          </a:xfrm>
          <a:prstGeom prst="roundRect">
            <a:avLst>
              <a:gd name="adj" fmla="val 5000"/>
            </a:avLst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2724912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stages[]　任務階段陣列（核心）</a:t>
            </a:r>
            <a:endParaRPr sz="12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675120" y="3383280"/>
            <a:ext cx="4910328" cy="1700784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12864" y="3529584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NPCQuestStage　每個階段</a:t>
            </a:r>
            <a:endParaRPr sz="11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12864" y="3858768"/>
            <a:ext cx="4480560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· 對應哪條任務、解鎖條件（四種）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· 要交什麼道具、交完發什麼獎勵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· 四段對話：委託 ／ 催促 ／ 交付 ／ 完成後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53328" y="5175504"/>
            <a:ext cx="553212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早期版本是「一段對話一個獨立檔案」，一個 NPC 散成七八個檔，改一句話要翻半天。整併成「一個 NPC 一個檔」之後維護體驗差很多。</a:t>
            </a:r>
            <a:endParaRPr sz="11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053328" y="5961888"/>
            <a:ext cx="5532120" cy="512064"/>
          </a:xfrm>
          <a:prstGeom prst="roundRect">
            <a:avLst>
              <a:gd name="adj" fmla="val 5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5961888"/>
            <a:ext cx="50292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4261E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加一個 NPC 要寫程式嗎？　→　不用，填資料就好</a:t>
            </a:r>
            <a:endParaRPr sz="1250" b="1">
              <a:solidFill>
                <a:srgbClr val="14261E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" y="365760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3</a:t>
            </a:r>
            <a:endParaRPr sz="17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1288" y="365760"/>
            <a:ext cx="5486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 3 章 · 對話 × 任務 × 情報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0297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程式端只做一件事：現在該播哪一段？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682496"/>
            <a:ext cx="6720840" cy="420624"/>
          </a:xfrm>
          <a:prstGeom prst="roundRect">
            <a:avLst>
              <a:gd name="adj" fmla="val 5000"/>
            </a:avLst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82496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狀態</a:t>
            </a:r>
            <a:endParaRPr sz="11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03120" y="1682496"/>
            <a:ext cx="2377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判斷條件</a:t>
            </a:r>
            <a:endParaRPr sz="11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0" y="1682496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播哪段對話</a:t>
            </a:r>
            <a:endParaRPr sz="11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89320" y="1682496"/>
            <a:ext cx="11430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NPC 頭上</a:t>
            </a:r>
            <a:endParaRPr sz="11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4360" y="2176272"/>
            <a:ext cx="6720840" cy="530352"/>
          </a:xfrm>
          <a:prstGeom prst="roundRect">
            <a:avLst>
              <a:gd name="adj" fmla="val 4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2350008"/>
            <a:ext cx="182880" cy="18288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2176272"/>
            <a:ext cx="10058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可接取</a:t>
            </a:r>
            <a:endParaRPr sz="11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03120" y="2176272"/>
            <a:ext cx="24231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任務還沒接，且這個 NPC 能發任務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0" y="2176272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委託 intro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89320" y="2176272"/>
            <a:ext cx="11887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黃色「！」</a:t>
            </a:r>
            <a:endParaRPr sz="10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360" y="2779776"/>
            <a:ext cx="6720840" cy="530352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2953512"/>
            <a:ext cx="182880" cy="182880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2779776"/>
            <a:ext cx="10058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進行中</a:t>
            </a:r>
            <a:endParaRPr sz="11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03120" y="2779776"/>
            <a:ext cx="24231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任務已接，但要交的道具還不夠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0" y="2779776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催促 reminder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89320" y="2779776"/>
            <a:ext cx="11887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無</a:t>
            </a:r>
            <a:endParaRPr sz="10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4360" y="3383280"/>
            <a:ext cx="6720840" cy="530352"/>
          </a:xfrm>
          <a:prstGeom prst="roundRect">
            <a:avLst>
              <a:gd name="adj" fmla="val 4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3557016"/>
            <a:ext cx="182880" cy="182880"/>
          </a:xfrm>
          <a:prstGeom prst="ellipse">
            <a:avLst/>
          </a:prstGeom>
          <a:solidFill>
            <a:srgbClr val="D2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1" y="3383280"/>
            <a:ext cx="10058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可交付</a:t>
            </a:r>
            <a:endParaRPr sz="11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03120" y="3383280"/>
            <a:ext cx="24231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任務已接，道具也集滿了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0" y="3383280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交付 handIn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89320" y="3383280"/>
            <a:ext cx="11887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橘色「！」</a:t>
            </a:r>
            <a:endParaRPr sz="10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94360" y="3986783"/>
            <a:ext cx="6720840" cy="530352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7240" y="4160520"/>
            <a:ext cx="182880" cy="182880"/>
          </a:xfrm>
          <a:prstGeom prst="ellipse">
            <a:avLst/>
          </a:prstGeom>
          <a:solidFill>
            <a:srgbClr val="5A6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1" y="3986783"/>
            <a:ext cx="10058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已完成</a:t>
            </a:r>
            <a:endParaRPr sz="11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03120" y="3986783"/>
            <a:ext cx="24231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任務已經完成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72000" y="3986783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閒聊 completed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989320" y="3986783"/>
            <a:ext cx="11887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無</a:t>
            </a:r>
            <a:endParaRPr sz="10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4360" y="4663440"/>
            <a:ext cx="67208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四種狀態各對應一段可以自由填寫的台詞——這就是為什麼加一個 NPC 完全不用寫程式。</a:t>
            </a:r>
            <a:endParaRPr sz="11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4360" y="5303520"/>
            <a:ext cx="6720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解鎖條件有四種（逐步加上去的）</a:t>
            </a:r>
            <a:endParaRPr sz="12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594360" y="5779007"/>
            <a:ext cx="164592" cy="164592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" y="568756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要先完成某條任務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3995928" y="5779007"/>
            <a:ext cx="164592" cy="164592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51960" y="568756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要先接下某條任務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594360" y="6199631"/>
            <a:ext cx="164592" cy="164592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" y="610819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要持有某個道具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3995928" y="6199631"/>
            <a:ext cx="164592" cy="164592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60" y="610819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某個世界事件已觸發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635240" y="1682496"/>
            <a:ext cx="3959352" cy="1920240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91271" y="1847088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關鍵設計：A 發任務、B 收東西</a:t>
            </a:r>
            <a:endParaRPr sz="12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891271" y="2231136"/>
            <a:ext cx="3474720" cy="1243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把「能不能發任務」和「能不能在這裡交」拆成兩個開關，同一條任務就能掛在兩個 NPC 身上。</a:t>
            </a:r>
            <a:endParaRPr sz="105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綁在一起的話，跑腿類劇情全部寫不出來。</a:t>
            </a:r>
            <a:endParaRPr sz="105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pic>
        <p:nvPicPr>
          <p:cNvPr id="47" name="Picture 46" descr="亞爾位置.png"/>
          <p:cNvPicPr>
            <a:picLocks noChangeAspect="1"/>
          </p:cNvPicPr>
          <p:nvPr/>
        </p:nvPicPr>
        <p:blipFill>
          <a:blip r:embed="rId1"/>
          <a:srcRect l="31000" t="11059" r="19000" b="39059"/>
          <a:stretch>
            <a:fillRect/>
          </a:stretch>
        </p:blipFill>
        <p:spPr>
          <a:xfrm>
            <a:off x="7635240" y="3712463"/>
            <a:ext cx="3959352" cy="1920240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sp>
        <p:nvSpPr>
          <p:cNvPr id="48" name="TextBox 47"/>
          <p:cNvSpPr txBox="1"/>
          <p:nvPr/>
        </p:nvSpPr>
        <p:spPr>
          <a:xfrm>
            <a:off x="7635240" y="5724144"/>
            <a:ext cx="395935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5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「可接取」狀態時，NPC 頭上會浮現黃色「！」。四種狀態各有不同的視覺提示，玩家不用進對話就知道誰有事找他。</a:t>
            </a:r>
            <a:endParaRPr sz="105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" y="365760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3</a:t>
            </a:r>
            <a:endParaRPr sz="17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1288" y="365760"/>
            <a:ext cx="5486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 3 章 · 對話 × 任務 × 情報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0297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把「玩家知道什麼」變成一種資源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682496"/>
            <a:ext cx="5120640" cy="1060704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原本的問題很具體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玩家一走近亞爾，選項就出現「聽說你弄丟了佩劍？」——他根本還沒跟任何人聊過，這句話從哪來的？角色像會讀心術。</a:t>
            </a:r>
            <a:endParaRPr sz="110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設計抉擇：鎖住的選項要藏起來嗎？</a:t>
            </a:r>
            <a:endParaRPr sz="13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3310128"/>
            <a:ext cx="5120640" cy="1115568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3816" y="3511296"/>
            <a:ext cx="274320" cy="274320"/>
          </a:xfrm>
          <a:prstGeom prst="ellipse">
            <a:avLst/>
          </a:prstGeom>
          <a:solidFill>
            <a:srgbClr val="5A6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97864" y="3456432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第一版：直接濾掉</a:t>
            </a:r>
            <a:endParaRPr sz="12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3816" y="3858768"/>
            <a:ext cx="46634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玩家看到兩個選項，選完就走了——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永遠不知道自己錯過了一整條支線。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4535424"/>
            <a:ext cx="5120640" cy="1115568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" y="4736592"/>
            <a:ext cx="274320" cy="2743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7864" y="4681728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第二版：顯示「？？？」</a:t>
            </a:r>
            <a:endParaRPr sz="12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3816" y="5084064"/>
            <a:ext cx="46634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選項照樣顯示、文字變問號、顏色半透明。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玩家知道有東西沒拿到，會主動去打聽。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5797296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這個改動把「錯過」變成「好奇」——玩家知道有東西沒拿到，會主動去找人聊天。</a:t>
            </a:r>
            <a:endParaRPr sz="11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53328" y="1682496"/>
            <a:ext cx="5532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實機畫面：鎖住的選項長這樣</a:t>
            </a:r>
            <a:endParaRPr sz="13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pic>
        <p:nvPicPr>
          <p:cNvPr id="19" name="Picture 18" descr="缺乏情報.png"/>
          <p:cNvPicPr>
            <a:picLocks noChangeAspect="1"/>
          </p:cNvPicPr>
          <p:nvPr/>
        </p:nvPicPr>
        <p:blipFill>
          <a:blip r:embed="rId1"/>
          <a:srcRect l="4" r="4"/>
          <a:stretch>
            <a:fillRect/>
          </a:stretch>
        </p:blipFill>
        <p:spPr>
          <a:xfrm>
            <a:off x="6053328" y="2048256"/>
            <a:ext cx="5532120" cy="2688336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sp>
        <p:nvSpPr>
          <p:cNvPr id="20" name="Rounded Rectangle 19"/>
          <p:cNvSpPr/>
          <p:nvPr/>
        </p:nvSpPr>
        <p:spPr>
          <a:xfrm>
            <a:off x="6053328" y="4828032"/>
            <a:ext cx="5532120" cy="713232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4" y="4828032"/>
            <a:ext cx="51206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提示故意不寫情報名稱（講出名字就等於暴雷）；選到鎖住的選項也不會結束對話，玩家可以留在原地繼續選別的。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053328" y="5632704"/>
            <a:ext cx="5532120" cy="822960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576072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順手修掉的隱藏 bug</a:t>
            </a:r>
            <a:endParaRPr sz="11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91072" y="6053328"/>
            <a:ext cx="5074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第一版「濾掉選項」藏著索引錯位的風險。改成只顯示問號後，畫面順序與資料順序永遠一致。</a:t>
            </a:r>
            <a:endParaRPr sz="95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" y="365760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4</a:t>
            </a:r>
            <a:endParaRPr sz="17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1288" y="365760"/>
            <a:ext cx="5486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 4 章 · UI 框架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0297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讓五個選單面板不會互相打架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682496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五個面板的共同行為</a:t>
            </a:r>
            <a:endParaRPr sz="13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6" name="Oval 5"/>
          <p:cNvSpPr/>
          <p:nvPr/>
        </p:nvSpPr>
        <p:spPr>
          <a:xfrm>
            <a:off x="594360" y="2135124"/>
            <a:ext cx="82296" cy="82296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66543"/>
            <a:ext cx="481888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打開時鎖住玩家移動，關閉時解鎖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Oval 7"/>
          <p:cNvSpPr/>
          <p:nvPr/>
        </p:nvSpPr>
        <p:spPr>
          <a:xfrm>
            <a:off x="594360" y="2500884"/>
            <a:ext cx="82296" cy="82296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432303"/>
            <a:ext cx="481888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開關要有音效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4360" y="2866644"/>
            <a:ext cx="82296" cy="82296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798063"/>
            <a:ext cx="481888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同時只能開一個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94360" y="3232404"/>
            <a:ext cx="82296" cy="82296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163824"/>
            <a:ext cx="481888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對話進行中不能開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4360" y="3598164"/>
            <a:ext cx="82296" cy="82296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529584"/>
            <a:ext cx="481888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按 Esc 關閉；沒開任何面板時按 Esc 開設定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360" y="4023360"/>
            <a:ext cx="5029200" cy="932688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23360"/>
            <a:ext cx="452628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各自實作的話，五個面板就是五份幾乎一樣的程式碼，而且一定會有某個面板漏掉某條規則。</a:t>
            </a:r>
            <a:endParaRPr sz="115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360" y="5084064"/>
            <a:ext cx="5029200" cy="1335024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5212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「對話中不能開選單」為什麼要擋</a:t>
            </a:r>
            <a:endParaRPr sz="12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0392" y="5541264"/>
            <a:ext cx="457200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兩套系統都會鎖玩家移動。對話中開背包再關掉，就會解鎖移動——但對話其實還沒結束，玩家卻可以走了。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53328" y="1682496"/>
            <a:ext cx="5532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三層設計</a:t>
            </a:r>
            <a:endParaRPr sz="13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053328" y="2066543"/>
            <a:ext cx="5532120" cy="969264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72784" y="2286000"/>
            <a:ext cx="329184" cy="32918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1</a:t>
            </a:r>
            <a:endParaRPr sz="13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11696" y="221284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IMenuPanel</a:t>
            </a:r>
            <a:endParaRPr sz="13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11696" y="2505456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介面</a:t>
            </a:r>
            <a:endParaRPr sz="10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72784" y="2724911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只規定三件事：現在開著嗎、打開、強制關閉。管理者不需要知道它是背包還是設定。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053328" y="3127248"/>
            <a:ext cx="5532120" cy="969264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72784" y="3346704"/>
            <a:ext cx="329184" cy="329184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2</a:t>
            </a:r>
            <a:endParaRPr sz="13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11696" y="327355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MenuPanelBase</a:t>
            </a:r>
            <a:endParaRPr sz="13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11696" y="356616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抽象基底類別</a:t>
            </a:r>
            <a:endParaRPr sz="10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72784" y="3785615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把共同行為實作一次。子類別只處理自己的內容，覆寫兩個掛勾接進開關流程。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053328" y="4187952"/>
            <a:ext cx="5532120" cy="969264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72784" y="4407408"/>
            <a:ext cx="329184" cy="32918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14261E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3</a:t>
            </a:r>
            <a:endParaRPr sz="1300" b="1">
              <a:solidFill>
                <a:srgbClr val="14261E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11696" y="433425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UIPanelManager</a:t>
            </a:r>
            <a:endParaRPr sz="13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11696" y="4626864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管理者</a:t>
            </a:r>
            <a:endParaRPr sz="10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72784" y="48463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管互斥與 Esc。任何面板要開時先通知它，它就把上一個開著的關掉。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053328" y="5212080"/>
            <a:ext cx="5532120" cy="1225296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5340096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容易忽略的細節：兩種「關閉」</a:t>
            </a:r>
            <a:endParaRPr sz="12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09360" y="5669280"/>
            <a:ext cx="5029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5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玩家自己按鍵關的要回報管理者；管理者叫它關的則不能回報——因為就是它叫的。混用會讓管理者以為沒面板開著，下次按 Esc 就沒反應。</a:t>
            </a:r>
            <a:endParaRPr sz="105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" y="365760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4</a:t>
            </a:r>
            <a:endParaRPr sz="17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1288" y="365760"/>
            <a:ext cx="5486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 4 章 · UI 框架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0297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一個元件，兩種用法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682496"/>
            <a:ext cx="6675120" cy="420624"/>
          </a:xfrm>
          <a:prstGeom prst="roundRect">
            <a:avLst>
              <a:gd name="adj" fmla="val 5000"/>
            </a:avLst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82496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比較項目</a:t>
            </a:r>
            <a:endParaRPr sz="11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06040" y="1682496"/>
            <a:ext cx="21945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資訊視窗分頁</a:t>
            </a:r>
            <a:endParaRPr sz="11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37760" y="1682496"/>
            <a:ext cx="21488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設定的子分頁</a:t>
            </a:r>
            <a:endParaRPr sz="11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2176272"/>
            <a:ext cx="6675120" cy="493776"/>
          </a:xfrm>
          <a:prstGeom prst="roundRect">
            <a:avLst>
              <a:gd name="adj" fmla="val 4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76272"/>
            <a:ext cx="17830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每頁是什麼</a:t>
            </a:r>
            <a:endParaRPr sz="10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06040" y="2176272"/>
            <a:ext cx="22402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獨立的面板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37760" y="2176272"/>
            <a:ext cx="21945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只是一個顯示區塊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2743200"/>
            <a:ext cx="6675120" cy="493776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43200"/>
            <a:ext cx="17830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切換方式</a:t>
            </a:r>
            <a:endParaRPr sz="10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06040" y="2743200"/>
            <a:ext cx="22402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關掉舊的、開啟新的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37760" y="2743200"/>
            <a:ext cx="21945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單純顯示／隱藏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94360" y="3310128"/>
            <a:ext cx="6675120" cy="493776"/>
          </a:xfrm>
          <a:prstGeom prst="roundRect">
            <a:avLst>
              <a:gd name="adj" fmla="val 4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10128"/>
            <a:ext cx="17830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可以全部關掉嗎</a:t>
            </a:r>
            <a:endParaRPr sz="10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06040" y="3310128"/>
            <a:ext cx="22402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可以（整個視窗關閉）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37760" y="3310128"/>
            <a:ext cx="21945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不行，永遠有一頁選中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4360" y="3877056"/>
            <a:ext cx="6675120" cy="493776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877056"/>
            <a:ext cx="17830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有快捷鍵嗎</a:t>
            </a:r>
            <a:endParaRPr sz="10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06040" y="3877056"/>
            <a:ext cx="22402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有（Tab ／ Q ／ I）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37760" y="3877056"/>
            <a:ext cx="21945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沒有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4360" y="4535424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同一個元件跑出來的兩種畫面</a:t>
            </a:r>
            <a:endParaRPr sz="12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pic>
        <p:nvPicPr>
          <p:cNvPr id="26" name="Picture 25" descr="背包UI.png"/>
          <p:cNvPicPr>
            <a:picLocks noChangeAspect="1"/>
          </p:cNvPicPr>
          <p:nvPr/>
        </p:nvPicPr>
        <p:blipFill>
          <a:blip r:embed="rId1"/>
          <a:srcRect t="10918" b="10918"/>
          <a:stretch>
            <a:fillRect/>
          </a:stretch>
        </p:blipFill>
        <p:spPr>
          <a:xfrm>
            <a:off x="594360" y="4828032"/>
            <a:ext cx="3246120" cy="1234440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pic>
        <p:nvPicPr>
          <p:cNvPr id="27" name="Picture 26" descr="鍵位設定.png"/>
          <p:cNvPicPr>
            <a:picLocks noChangeAspect="1"/>
          </p:cNvPicPr>
          <p:nvPr/>
        </p:nvPicPr>
        <p:blipFill>
          <a:blip r:embed="rId2"/>
          <a:srcRect t="10949" b="10949"/>
          <a:stretch>
            <a:fillRect/>
          </a:stretch>
        </p:blipFill>
        <p:spPr>
          <a:xfrm>
            <a:off x="4023360" y="4828032"/>
            <a:ext cx="3246120" cy="1234440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594360" y="612648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視窗模式：背包／任務／情報，可以全部關掉</a:t>
            </a:r>
            <a:endParaRPr sz="95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023360" y="612648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子分頁模式：音量／鍵位，永遠有一頁選中</a:t>
            </a:r>
            <a:endParaRPr sz="95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89520" y="1682496"/>
            <a:ext cx="40050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兩者看起來像不同的東西，但骨架完全一樣：一排按鈕、點了切換、選中的要亮起。所以做成同一個元件，用一個開關切換行為。</a:t>
            </a:r>
            <a:endParaRPr sz="11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589520" y="2615184"/>
            <a:ext cx="4005072" cy="1371600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27264" y="276148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判準：骨架有沒有「真的」一樣</a:t>
            </a:r>
            <a:endParaRPr sz="11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27264" y="3090672"/>
            <a:ext cx="356616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如果只是「看起來像」就硬合併，程式碼最後會充滿 if 判斷，反而更難維護。這裡合併是對的，因為兩者只差在「能不能全部關掉」。</a:t>
            </a:r>
            <a:endParaRPr sz="100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589520" y="4096512"/>
            <a:ext cx="4005072" cy="1920240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27264" y="4242816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踩過的坑：版面爆掉</a:t>
            </a:r>
            <a:endParaRPr sz="12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827264" y="4572000"/>
            <a:ext cx="3520440" cy="1316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分頁列加上去之後，面板內容超出下緣。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32000"/>
              </a:lnSpc>
            </a:pPr>
          </a:p>
          <a:p>
            <a:pPr algn="l">
              <a:lnSpc>
                <a:spcPct val="132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第一次修法是「往下移 26 像素」，結果底部反而超出 6 像素——因為那些元件是垂直拉伸的，往下移只會讓上下兩端一起往下跑。正確做法是同時減少高度。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589520" y="6108192"/>
            <a:ext cx="4005072" cy="365760"/>
          </a:xfrm>
          <a:prstGeom prst="roundRect">
            <a:avLst>
              <a:gd name="adj" fmla="val 4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90688" y="6108192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4261E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UI 除錯不能靠肉眼估，要讀錨點設定</a:t>
            </a:r>
            <a:endParaRPr sz="1050" b="1">
              <a:solidFill>
                <a:srgbClr val="14261E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" y="365760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5</a:t>
            </a:r>
            <a:endParaRPr sz="17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1288" y="365760"/>
            <a:ext cx="5486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 5 章 · 存檔與世界狀態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0297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前面四章做的東西，全都要能存下來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682496"/>
            <a:ext cx="5257800" cy="1316736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47088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回到第 1 章那個坑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470916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10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進出房子會讓村莊場景整個重載，所有「玩家改變過的東西」都會被場景檔的原始資料蓋回去——採收過的作物又長回來了。</a:t>
            </a:r>
            <a:endParaRPr sz="110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3163824"/>
            <a:ext cx="52578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所以存檔其實有兩層：關掉遊戲要記得住是明顯的那層；但「同一次遊玩之內世界的改變也要記得住」才是真正麻煩、且必須先解決的那層。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3986784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世界狀態三件套</a:t>
            </a:r>
            <a:endParaRPr sz="13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4360" y="4370832"/>
            <a:ext cx="5257800" cy="548640"/>
          </a:xfrm>
          <a:prstGeom prst="roundRect">
            <a:avLst>
              <a:gd name="adj" fmla="val 4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4370832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撿過的道具</a:t>
            </a:r>
            <a:endParaRPr sz="1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06040" y="4370832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每個拾取物有唯一 ID，撿走的東西不會重新出現</a:t>
            </a:r>
            <a:endParaRPr sz="9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4974336"/>
            <a:ext cx="5257800" cy="548640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4974336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一次性事件旗標</a:t>
            </a:r>
            <a:endParaRPr sz="1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06040" y="4974336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演出只播一次；也當作對話的解鎖條件</a:t>
            </a:r>
            <a:endParaRPr sz="9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360" y="5577840"/>
            <a:ext cx="5257800" cy="548640"/>
          </a:xfrm>
          <a:prstGeom prst="roundRect">
            <a:avLst>
              <a:gd name="adj" fmla="val 4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55778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採收過的作物格子</a:t>
            </a:r>
            <a:endParaRPr sz="1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06040" y="557784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採過的地不會重新長出來</a:t>
            </a:r>
            <a:endParaRPr sz="9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6126480"/>
            <a:ext cx="5257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三種都是字串集合，可以直接序列化，不用另外轉換。</a:t>
            </a:r>
            <a:endParaRPr sz="105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63640" y="1682496"/>
            <a:ext cx="5330952" cy="1463040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184708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拾取物的唯一 ID 用亂數，不用手動編號</a:t>
            </a:r>
            <a:endParaRPr sz="12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19672" y="219456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手動編號一定會撞號，而撞號的症狀是「撿了 A 之後 B 也跟著消失」——非常難查。改用系統產生的亂數字串，在編輯器裡按右鍵就能生成一組。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63640" y="3310128"/>
            <a:ext cx="53309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存檔的三個時機</a:t>
            </a:r>
            <a:endParaRPr sz="13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281927" y="3749039"/>
            <a:ext cx="274320" cy="274320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1</a:t>
            </a:r>
            <a:endParaRPr sz="11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65976" y="369417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進出場景時</a:t>
            </a:r>
            <a:endParaRPr sz="11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65976" y="398678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轉場完成後才存，這樣記的場景與座標才是門的另一邊</a:t>
            </a:r>
            <a:endParaRPr sz="9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6281927" y="4462272"/>
            <a:ext cx="274320" cy="274320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2</a:t>
            </a:r>
            <a:endParaRPr sz="11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65976" y="440740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選「儲存並回到標題」時</a:t>
            </a:r>
            <a:endParaRPr sz="11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65976" y="470001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離開前先存一次，不讓玩家白白弄丟進度</a:t>
            </a:r>
            <a:endParaRPr sz="9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281927" y="5175503"/>
            <a:ext cx="274320" cy="274320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3</a:t>
            </a:r>
            <a:endParaRPr sz="11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65976" y="512064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開始新遊戲的當下</a:t>
            </a:r>
            <a:endParaRPr sz="11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65976" y="541324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不立刻存的話，玩家馬上關遊戲會看到存檔槽還是空的</a:t>
            </a:r>
            <a:endParaRPr sz="9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263640" y="5797296"/>
            <a:ext cx="5330952" cy="658368"/>
          </a:xfrm>
          <a:prstGeom prst="roundRect">
            <a:avLst>
              <a:gd name="adj" fmla="val 4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1383" y="5797296"/>
            <a:ext cx="4846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4261E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第三個最容易忽略——它不是技術問題，是玩家信任問題。</a:t>
            </a:r>
            <a:endParaRPr sz="1150" b="1">
              <a:solidFill>
                <a:srgbClr val="14261E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" y="365760"/>
            <a:ext cx="420624" cy="420624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5</a:t>
            </a:r>
            <a:endParaRPr sz="17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1288" y="365760"/>
            <a:ext cx="5486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 5 章 · 存檔與世界狀態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100297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核心難題：存「參照」還是存「ID」？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682496"/>
            <a:ext cx="52578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遊戲執行時，一條任務在記憶體裡是一個「指向資料檔的參照」。但參照沒辦法存進檔案——它只是一個記憶體位址，下次開遊戲就無效了。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2523744"/>
            <a:ext cx="5257800" cy="566928"/>
          </a:xfrm>
          <a:prstGeom prst="roundRect">
            <a:avLst>
              <a:gd name="adj" fmla="val 5000"/>
            </a:avLst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523744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存檔：參照 → 字串 ID　　讀檔：字串 ID → 參照</a:t>
            </a:r>
            <a:endParaRPr sz="125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3236976"/>
            <a:ext cx="5257800" cy="1609344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01568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陷阱：Unity 內建的查詢工具只在編輯器裡有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749039"/>
            <a:ext cx="4709160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用它從 ID 查回資料檔，在編輯器裡測一切正常——但打包之後那個工具不存在，玩家拿到的版本一讀檔就整個崩掉。</a:t>
            </a:r>
            <a:endParaRPr sz="105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2000"/>
              </a:lnSpc>
            </a:pPr>
            <a:r>
              <a:rPr sz="105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這是典型的「只在編輯器裡對」的陷阱。</a:t>
            </a:r>
            <a:endParaRPr sz="105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5010912"/>
            <a:ext cx="52578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解法是自己維護一份對照表資產，裡面拖著全部的道具、任務、情報，讀檔時在這份清單裡搜尋。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4360" y="5724144"/>
            <a:ext cx="5257800" cy="749808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5724144"/>
            <a:ext cx="47548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代價：新增道具或任務時一定要記得拖進這份清單。所以三個讀檔函式都加了明確警告——不然症狀會是「玩家的某個任務莫名消失」。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63640" y="3236976"/>
            <a:ext cx="5330952" cy="914400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3364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這一章真正的主題：安靜失敗</a:t>
            </a:r>
            <a:endParaRPr sz="12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19672" y="3675887"/>
            <a:ext cx="48463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程式沒崩、日誌乾淨，但行為是錯的。會造成「行為不對卻沒線索」的地方，一律主動加警告。</a:t>
            </a:r>
            <a:endParaRPr sz="100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pic>
        <p:nvPicPr>
          <p:cNvPr id="20" name="Picture 19" descr="存檔槽介面.png"/>
          <p:cNvPicPr>
            <a:picLocks noChangeAspect="1"/>
          </p:cNvPicPr>
          <p:nvPr/>
        </p:nvPicPr>
        <p:blipFill>
          <a:blip r:embed="rId1"/>
          <a:srcRect l="70" r="70"/>
          <a:stretch>
            <a:fillRect/>
          </a:stretch>
        </p:blipFill>
        <p:spPr>
          <a:xfrm>
            <a:off x="7223760" y="4242816"/>
            <a:ext cx="3410712" cy="2231136"/>
          </a:xfrm>
          <a:prstGeom prst="rect">
            <a:avLst/>
          </a:prstGeom>
          <a:ln w="9525">
            <a:solidFill>
              <a:srgbClr val="D5DED2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技術講解 · 補充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100297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其餘系統一頁總覽</a:t>
            </a:r>
            <a:endParaRPr sz="3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94360" y="1737360"/>
            <a:ext cx="3493008" cy="2048256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" y="1993391"/>
            <a:ext cx="365760" cy="365760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993391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鍵位設定</a:t>
            </a:r>
            <a:endParaRPr sz="14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392" y="2560320"/>
            <a:ext cx="29809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9 個可自訂動作。按鍵衝突時自動對調兩個動作，而不是報錯——永遠不會出現「某個動作沒鍵可按」。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70248" y="1737360"/>
            <a:ext cx="3493008" cy="2048256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26280" y="1993391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1768" y="1993391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通知與飄字</a:t>
            </a:r>
            <a:endParaRPr sz="14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26280" y="2560320"/>
            <a:ext cx="29809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兩條管道：左上角有黑底、會排隊的系統訊息；以及物品原地冒出、只有文字會淡出的現場回饋。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946136" y="1737360"/>
            <a:ext cx="3493008" cy="2048256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02167" y="1993391"/>
            <a:ext cx="365760" cy="365760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7656" y="1993391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相機系統</a:t>
            </a:r>
            <a:endParaRPr sz="14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02167" y="2560320"/>
            <a:ext cx="29809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邊界由當下載入的場景自己帶進來。地圖比畫面小時改成釘在中心，黑邊變成對稱的細框。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360" y="3950208"/>
            <a:ext cx="3493008" cy="2048256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2" y="4206240"/>
            <a:ext cx="365760" cy="365760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206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音效管理</a:t>
            </a:r>
            <a:endParaRPr sz="14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0392" y="4773168"/>
            <a:ext cx="29809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集中管理音量與播放。個別物件不指定音效時自動回退到共用預設，新增功能不用每次手動接。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270248" y="3950208"/>
            <a:ext cx="3493008" cy="2048256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4206240"/>
            <a:ext cx="365760" cy="365760"/>
          </a:xfrm>
          <a:prstGeom prst="ellipse">
            <a:avLst/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1768" y="4206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互動偵測</a:t>
            </a:r>
            <a:endParaRPr sz="14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26280" y="4773168"/>
            <a:ext cx="29809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從射線改成範圍偵測，修掉「踩在物品正上方反而按不到」；順手解決射線只回傳第一個目標的限制。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946136" y="3950208"/>
            <a:ext cx="3493008" cy="2048256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02167" y="420624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77656" y="4206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中文字型工程</a:t>
            </a:r>
            <a:endParaRPr sz="14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02167" y="4773168"/>
            <a:ext cx="29809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四層獨立原因疊在一起的排版災難，包含一個編輯器完全正常、打包才爆的陷阱。詳見附錄。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4360" y="6108192"/>
            <a:ext cx="110029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這六個系統都不是主角，但它們共同決定了「這個 Demo 玩起來像不像一款完成的遊戲」。</a:t>
            </a:r>
            <a:endParaRPr sz="115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收尾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100297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開發回顧</a:t>
            </a:r>
            <a:endParaRPr sz="31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700784"/>
            <a:ext cx="2011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65</a:t>
            </a:r>
            <a:endParaRPr sz="36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235915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FA396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支 C# 腳本</a:t>
            </a:r>
            <a:endParaRPr sz="1050" b="0">
              <a:solidFill>
                <a:srgbClr val="8FA396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07208" y="1700784"/>
            <a:ext cx="2011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7</a:t>
            </a:r>
            <a:endParaRPr sz="36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07208" y="235915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FA396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個建置場景</a:t>
            </a:r>
            <a:endParaRPr sz="1050" b="0">
              <a:solidFill>
                <a:srgbClr val="8FA396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0056" y="1700784"/>
            <a:ext cx="2011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230</a:t>
            </a:r>
            <a:endParaRPr sz="36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0056" y="235915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FA396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棵邊界樹</a:t>
            </a:r>
            <a:endParaRPr sz="1050" b="0">
              <a:solidFill>
                <a:srgbClr val="8FA396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32904" y="1700784"/>
            <a:ext cx="2011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591</a:t>
            </a:r>
            <a:endParaRPr sz="36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32904" y="235915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FA396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個烘焙字元</a:t>
            </a:r>
            <a:endParaRPr sz="1050" b="0">
              <a:solidFill>
                <a:srgbClr val="8FA396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445752" y="1700784"/>
            <a:ext cx="2011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147</a:t>
            </a:r>
            <a:endParaRPr sz="36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445752" y="235915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FA396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MB 建置大小</a:t>
            </a:r>
            <a:endParaRPr sz="1050" b="0">
              <a:solidFill>
                <a:srgbClr val="8FA396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回頭看，有四個重複出現的原則</a:t>
            </a:r>
            <a:endParaRPr sz="14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94360" y="3364992"/>
            <a:ext cx="274320" cy="2743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14261E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1</a:t>
            </a:r>
            <a:endParaRPr sz="1200" b="1">
              <a:solidFill>
                <a:srgbClr val="14261E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96696" y="32918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執行期狀態 ≠ 持久化狀態</a:t>
            </a:r>
            <a:endParaRPr sz="12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96696" y="3584448"/>
            <a:ext cx="51206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B9C7B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作物復活、存檔、字型被清空——三個看似無關的問題，本質是同一件事</a:t>
            </a:r>
            <a:endParaRPr sz="950" b="0">
              <a:solidFill>
                <a:srgbClr val="B9C7B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94360" y="4151376"/>
            <a:ext cx="274320" cy="2743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14261E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2</a:t>
            </a:r>
            <a:endParaRPr sz="1200" b="1">
              <a:solidFill>
                <a:srgbClr val="14261E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96696" y="4078224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安靜失敗比崩潰更危險</a:t>
            </a:r>
            <a:endParaRPr sz="12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96696" y="4370832"/>
            <a:ext cx="51206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B9C7B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不報錯的錯誤最難查。會造成「行為不對卻沒線索」的地方一律主動加警告</a:t>
            </a:r>
            <a:endParaRPr sz="950" b="0">
              <a:solidFill>
                <a:srgbClr val="B9C7B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94360" y="4937760"/>
            <a:ext cx="274320" cy="2743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14261E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3</a:t>
            </a:r>
            <a:endParaRPr sz="1200" b="1">
              <a:solidFill>
                <a:srgbClr val="14261E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96696" y="486460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抽象層要在需要之前先做</a:t>
            </a:r>
            <a:endParaRPr sz="12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6696" y="5157216"/>
            <a:ext cx="51206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B9C7B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鍵位查詢層先做，等到真的要做設定畫面時完全不用回頭改任何腳本</a:t>
            </a:r>
            <a:endParaRPr sz="950" b="0">
              <a:solidFill>
                <a:srgbClr val="B9C7B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94360" y="5724144"/>
            <a:ext cx="274320" cy="2743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14261E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4</a:t>
            </a:r>
            <a:endParaRPr sz="1200" b="1">
              <a:solidFill>
                <a:srgbClr val="14261E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6696" y="565099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驗證方式要跟被驗證的東西匹配</a:t>
            </a:r>
            <a:endParaRPr sz="12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96696" y="5943600"/>
            <a:ext cx="51206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B9C7B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洪水填充、把動畫拉長到 60 秒截圖、用全新的字測字型——不要用「看起來對」當驗證</a:t>
            </a:r>
            <a:endParaRPr sz="950" b="0">
              <a:solidFill>
                <a:srgbClr val="B9C7B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92240" y="2871216"/>
            <a:ext cx="5102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刻意沒做的事（未來展望）</a:t>
            </a:r>
            <a:endParaRPr sz="14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492240" y="3392424"/>
            <a:ext cx="128016" cy="128016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4848" y="3291840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存檔點的程式寫好了，但還沒放進任何場景</a:t>
            </a:r>
            <a:endParaRPr sz="105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492240" y="3849624"/>
            <a:ext cx="128016" cy="128016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84848" y="3749039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作物採收後就是空地，重長與種植是另一個完整功能</a:t>
            </a:r>
            <a:endParaRPr sz="105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6492240" y="4306824"/>
            <a:ext cx="128016" cy="128016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4206240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沒有操作說明畫面，目前靠鍵位設定頁勉強代替</a:t>
            </a:r>
            <a:endParaRPr sz="105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492240" y="4764024"/>
            <a:ext cx="128016" cy="128016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84848" y="4663440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村口路標沒有專屬美術，改用柵欄互動區代替</a:t>
            </a:r>
            <a:endParaRPr sz="105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6492240" y="5221224"/>
            <a:ext cx="128016" cy="128016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84848" y="5120640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東岸地形有鋪，但河上沒有橋，留給未來擴充</a:t>
            </a:r>
            <a:endParaRPr sz="105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92240" y="5678424"/>
            <a:ext cx="128016" cy="128016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4848" y="5577840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四條任務在資料上都標成支線，主線分類還沒設</a:t>
            </a:r>
            <a:endParaRPr sz="105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492240" y="5961888"/>
            <a:ext cx="5102352" cy="512064"/>
          </a:xfrm>
          <a:prstGeom prst="roundRect">
            <a:avLst>
              <a:gd name="adj" fmla="val 5000"/>
            </a:avLst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9983" y="5961888"/>
            <a:ext cx="46268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誠實列出來，比假裝都做完了更有說服力。</a:t>
            </a:r>
            <a:endParaRPr sz="11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47472"/>
            <a:ext cx="786384" cy="310896"/>
          </a:xfrm>
          <a:prstGeom prst="roundRect">
            <a:avLst>
              <a:gd name="adj" fmla="val 6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863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4261E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附錄</a:t>
            </a:r>
            <a:endParaRPr sz="1050" b="1">
              <a:solidFill>
                <a:srgbClr val="14261E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7048" y="347472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備用投影片 · 不在正式報告流程中</a:t>
            </a:r>
            <a:endParaRPr sz="11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0297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中文字型災難（一）：為什麼有些字特別大</a:t>
            </a:r>
            <a:endParaRPr sz="30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700784"/>
            <a:ext cx="5257800" cy="932688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00784"/>
            <a:ext cx="470916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症狀：對話框裡的中文，有些明顯比較大，而且有些上下位置歪掉，看起來像排版壞掉。</a:t>
            </a:r>
            <a:endParaRPr sz="12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525780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背景：主字型是像素風的 Silver，但它的字符集很小。只要用到它沒有的字，就會自動改用備援字型 Cubic——而中文常用字很容易中。</a:t>
            </a:r>
            <a:endParaRPr sz="11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3749039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第一層（次要）：圖集裡卡了舊快取</a:t>
            </a:r>
            <a:endParaRPr sz="12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4114800"/>
            <a:ext cx="5257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字型的取樣設定被改過，但改之前就已經快取進去的字仍用舊尺寸。清空整個字元表強迫重新產生就解決了——但這只修好「同一套字型內部」的不一致。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4919472"/>
            <a:ext cx="5257800" cy="1554480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506577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第二層（主因）：備援字型天生就比較大</a:t>
            </a:r>
            <a:endParaRPr sz="12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2104" y="5413248"/>
            <a:ext cx="475488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同樣的字級設定下，量出來的字高中位數：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Silver 52.1　vs　Cubic 82.5——Cubic 天生高了將近六成。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這是字型設計本身的差異，不是設定錯誤。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63640" y="1700784"/>
            <a:ext cx="53309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花最多時間的地方：改哪個欄位才有用</a:t>
            </a:r>
            <a:endParaRPr sz="13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63640" y="2103120"/>
            <a:ext cx="5330952" cy="640080"/>
          </a:xfrm>
          <a:prstGeom prst="roundRect">
            <a:avLst>
              <a:gd name="adj" fmla="val 4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210312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字級 pointSize</a:t>
            </a:r>
            <a:endParaRPr sz="1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74152" y="2103120"/>
            <a:ext cx="65836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無效</a:t>
            </a:r>
            <a:endParaRPr sz="1100" b="1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23959" y="2130551"/>
            <a:ext cx="26060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字的高度本身也按這個比例烘出來，兩邊相乘直接抵銷</a:t>
            </a:r>
            <a:endParaRPr sz="9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63640" y="2816352"/>
            <a:ext cx="5330952" cy="640080"/>
          </a:xfrm>
          <a:prstGeom prst="roundRect">
            <a:avLst>
              <a:gd name="adj" fmla="val 4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2816352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基線 baseline</a:t>
            </a:r>
            <a:endParaRPr sz="1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74152" y="2816352"/>
            <a:ext cx="65836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無效</a:t>
            </a:r>
            <a:endParaRPr sz="1100" b="1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23959" y="2843784"/>
            <a:ext cx="26060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實測改了之後量出來的座標一模一樣</a:t>
            </a:r>
            <a:endParaRPr sz="9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263640" y="3529584"/>
            <a:ext cx="5330952" cy="640080"/>
          </a:xfrm>
          <a:prstGeom prst="roundRect">
            <a:avLst>
              <a:gd name="adj" fmla="val 4000"/>
            </a:avLst>
          </a:prstGeom>
          <a:solidFill>
            <a:srgbClr val="E4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7" y="3529584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縮放 scale</a:t>
            </a:r>
            <a:endParaRPr sz="1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74152" y="3529584"/>
            <a:ext cx="65836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7FA65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有效</a:t>
            </a:r>
            <a:endParaRPr sz="1100" b="1">
              <a:solidFill>
                <a:srgbClr val="7FA65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23959" y="3557015"/>
            <a:ext cx="26060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獨立的乘數，不會被字高的變化抵銷</a:t>
            </a:r>
            <a:endParaRPr sz="9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263640" y="4315968"/>
            <a:ext cx="5330952" cy="658368"/>
          </a:xfrm>
          <a:prstGeom prst="roundRect">
            <a:avLst>
              <a:gd name="adj" fmla="val 5000"/>
            </a:avLst>
          </a:prstGeom>
          <a:solidFill>
            <a:srgbClr val="1F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1383" y="4315968"/>
            <a:ext cx="4846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縮放值 ＝ 52.1 ÷ 82.5 ≈ 0.631</a:t>
            </a:r>
            <a:endParaRPr sz="150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63640" y="5138928"/>
            <a:ext cx="533095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教訓：這條路試了兩輪、看數字以為修好了、實際截圖還是錯。因為我一直在改「會被連動抵銷」的欄位，而不是真正獨立的那一個。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63640" y="5925312"/>
            <a:ext cx="5330952" cy="548640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3096" y="5925312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驗證：全專案 371 個不重複字元，中文全部落在中位數 ±18% 內。</a:t>
            </a:r>
            <a:endParaRPr sz="10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47472"/>
            <a:ext cx="786384" cy="310896"/>
          </a:xfrm>
          <a:prstGeom prst="roundRect">
            <a:avLst>
              <a:gd name="adj" fmla="val 6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863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4261E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附錄</a:t>
            </a:r>
            <a:endParaRPr sz="1050" b="1">
              <a:solidFill>
                <a:srgbClr val="14261E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7048" y="347472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備用投影片 · 不在正式報告流程中</a:t>
            </a:r>
            <a:endParaRPr sz="1100" b="0">
              <a:solidFill>
                <a:srgbClr val="5A666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100297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中文字型災難（二）：編輯器裡正常，打包出來就壞</a:t>
            </a:r>
            <a:endParaRPr sz="30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719072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第三層：垂直位置對不齊</a:t>
            </a:r>
            <a:endParaRPr sz="12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2084831"/>
            <a:ext cx="5257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大小修好之後還剩「同一行有些字上下歪掉」，這是跟大小完全無關的另一個問題——兩套字型「字框相對於基線的位置」天生不同。</a:t>
            </a:r>
            <a:endParaRPr sz="10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2926080"/>
            <a:ext cx="5257800" cy="1316736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309067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修法：把每個字的字框底部對齊基線</a:t>
            </a:r>
            <a:endParaRPr sz="11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" y="3438144"/>
            <a:ext cx="475488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並保留一份例外清單，跳過本來就該垂到基線以下的字母（g、j、p、q、y、逗號等）。這個規則是「冪等」的——跑第二次改動 0 個字，所以重複執行不會累加偏移。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4389120"/>
            <a:ext cx="5257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修正前平均差 </a:t>
            </a:r>
            <a:r>
              <a:rPr sz="1700" b="1">
                <a:solidFill>
                  <a:srgbClr val="5A666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−2.401</a:t>
            </a:r>
            <a:r>
              <a:rPr sz="11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　→　修正後 </a:t>
            </a:r>
            <a:r>
              <a:rPr sz="1700" b="1">
                <a:solidFill>
                  <a:srgbClr val="7FA65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+0.008</a:t>
            </a:r>
            <a:endParaRPr sz="1700" b="1">
              <a:solidFill>
                <a:srgbClr val="7FA65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4360" y="5010912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515721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為什麼需要一個常駐元件？</a:t>
            </a:r>
            <a:endParaRPr sz="11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2104" y="5504688"/>
            <a:ext cx="475488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0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備援字型是動態圖集：遇到沒看過的字才即時補進來，補進來的是原始沒對齊的數值。所以要有一個元件持續監看字元數量，一變多就重修一次。</a:t>
            </a:r>
            <a:endParaRPr sz="100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63640" y="1719072"/>
            <a:ext cx="5330952" cy="1572768"/>
          </a:xfrm>
          <a:prstGeom prst="roundRect">
            <a:avLst>
              <a:gd name="adj" fmla="val 5000"/>
            </a:avLst>
          </a:prstGeom>
          <a:solidFill>
            <a:srgbClr val="14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883664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E8A33D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第四層：編輯器完全正常，打包出來又壞了</a:t>
            </a:r>
            <a:endParaRPr sz="1250" b="1">
              <a:solidFill>
                <a:srgbClr val="E8A33D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19672" y="2249424"/>
            <a:ext cx="484632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C9D6CC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真因是動態字型資產有一個預設開啟的選項，會在建置時把整個字元表清空——手動改好的數值全部被丟掉，執行時再重新產生成原始（沒對齊）的值。</a:t>
            </a:r>
            <a:endParaRPr sz="1050" b="0">
              <a:solidFill>
                <a:srgbClr val="C9D6CC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63640" y="3438144"/>
            <a:ext cx="5330952" cy="658368"/>
          </a:xfrm>
          <a:prstGeom prst="roundRect">
            <a:avLst>
              <a:gd name="adj" fmla="val 5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3" y="3438144"/>
            <a:ext cx="48463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4261E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徵兆很好認：建置完，字元數從 180 掉到 19</a:t>
            </a:r>
            <a:endParaRPr sz="1300" b="1">
              <a:solidFill>
                <a:srgbClr val="14261E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63640" y="4261104"/>
            <a:ext cx="53309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修法（兩件一起做才完整）</a:t>
            </a:r>
            <a:endParaRPr sz="12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263640" y="4608576"/>
            <a:ext cx="256032" cy="256032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1</a:t>
            </a:r>
            <a:endParaRPr sz="11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47688" y="453542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關掉那個選項</a:t>
            </a:r>
            <a:endParaRPr sz="1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47688" y="4828032"/>
            <a:ext cx="49377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資料才會跟著建置走</a:t>
            </a:r>
            <a:endParaRPr sz="9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263640" y="5303520"/>
            <a:ext cx="256032" cy="256032"/>
          </a:xfrm>
          <a:prstGeom prst="ellipse">
            <a:avLst/>
          </a:prstGeom>
          <a:solidFill>
            <a:srgbClr val="7FA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2</a:t>
            </a:r>
            <a:endParaRPr sz="1100" b="1">
              <a:solidFill>
                <a:srgbClr val="FFFFFF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47688" y="523036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事先把全遊戲的字烘進字型</a:t>
            </a:r>
            <a:endParaRPr sz="110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47688" y="5522976"/>
            <a:ext cx="49377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A2420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不要靠執行期動態產生。掃過所有對話、任務、道具、情報的文字加上介面字串，共 591 個不重複字元</a:t>
            </a:r>
            <a:endParaRPr sz="950" b="0">
              <a:solidFill>
                <a:srgbClr val="1A2420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263640" y="5961888"/>
            <a:ext cx="5330952" cy="512064"/>
          </a:xfrm>
          <a:prstGeom prst="roundRect">
            <a:avLst>
              <a:gd name="adj" fmla="val 4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3096" y="5961888"/>
            <a:ext cx="48920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1F4535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驗證方式：建置完回編輯器看字元數還是不是 375。</a:t>
            </a:r>
            <a:endParaRPr sz="1050" b="1">
              <a:solidFill>
                <a:srgbClr val="1F4535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7619</Words>
  <Application>WPS Presentation</Application>
  <PresentationFormat>On-screen Show (4:3)</PresentationFormat>
  <Paragraphs>874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Arial</vt:lpstr>
      <vt:lpstr>新細明體</vt:lpstr>
      <vt:lpstr>Wingdings</vt:lpstr>
      <vt:lpstr>Arial</vt:lpstr>
      <vt:lpstr>微軟正黑體</vt:lpstr>
      <vt:lpstr>Calibri</vt:lpstr>
      <vt:lpstr>Microsoft YaHei</vt:lpstr>
      <vt:lpstr>SimSun</vt:lpstr>
      <vt:lpstr>Arial Unicode MS</vt:lpstr>
      <vt:lpstr>新細明體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3</cp:revision>
  <dcterms:created xsi:type="dcterms:W3CDTF">2013-01-27T09:14:00Z</dcterms:created>
  <dcterms:modified xsi:type="dcterms:W3CDTF">2026-09-08T09:33:36Z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1028-10.8.0.6003</vt:lpwstr>
  </property>
</Properties>
</file>